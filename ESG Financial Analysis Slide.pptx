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69" r:id="rId3"/>
    <p:sldId id="257" r:id="rId4"/>
    <p:sldId id="276" r:id="rId5"/>
    <p:sldId id="258" r:id="rId6"/>
    <p:sldId id="259" r:id="rId7"/>
    <p:sldId id="260" r:id="rId8"/>
    <p:sldId id="262" r:id="rId9"/>
    <p:sldId id="263" r:id="rId10"/>
    <p:sldId id="264" r:id="rId11"/>
    <p:sldId id="265" r:id="rId12"/>
    <p:sldId id="266" r:id="rId13"/>
    <p:sldId id="267" r:id="rId14"/>
    <p:sldId id="268" r:id="rId15"/>
    <p:sldId id="272" r:id="rId16"/>
    <p:sldId id="273" r:id="rId17"/>
    <p:sldId id="275"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hpq1TEAZMCgrF7oh9mYJsu6l5g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73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DD2387-8222-440D-BF58-4D511A6D7E4D}">
  <a:tblStyle styleId="{9DDD2387-8222-440D-BF58-4D511A6D7E4D}"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F4E7"/>
          </a:solidFill>
        </a:fill>
      </a:tcStyle>
    </a:wholeTbl>
    <a:band1H>
      <a:tcTxStyle/>
      <a:tcStyle>
        <a:tcBdr/>
        <a:fill>
          <a:solidFill>
            <a:srgbClr val="DBE9CB"/>
          </a:solidFill>
        </a:fill>
      </a:tcStyle>
    </a:band1H>
    <a:band2H>
      <a:tcTxStyle/>
      <a:tcStyle>
        <a:tcBdr/>
      </a:tcStyle>
    </a:band2H>
    <a:band1V>
      <a:tcTxStyle/>
      <a:tcStyle>
        <a:tcBdr/>
        <a:fill>
          <a:solidFill>
            <a:srgbClr val="DBE9CB"/>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82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436A3D4F-25C5-9D7B-FEE6-89D08D6C7E09}"/>
            </a:ext>
          </a:extLst>
        </p:cNvPr>
        <p:cNvGrpSpPr/>
        <p:nvPr/>
      </p:nvGrpSpPr>
      <p:grpSpPr>
        <a:xfrm>
          <a:off x="0" y="0"/>
          <a:ext cx="0" cy="0"/>
          <a:chOff x="0" y="0"/>
          <a:chExt cx="0" cy="0"/>
        </a:xfrm>
      </p:grpSpPr>
      <p:sp>
        <p:nvSpPr>
          <p:cNvPr id="152" name="Google Shape;152;p3:notes">
            <a:extLst>
              <a:ext uri="{FF2B5EF4-FFF2-40B4-BE49-F238E27FC236}">
                <a16:creationId xmlns:a16="http://schemas.microsoft.com/office/drawing/2014/main" id="{4D6FFC07-59D7-F7AB-51A7-F3BE5CDCC4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3:notes">
            <a:extLst>
              <a:ext uri="{FF2B5EF4-FFF2-40B4-BE49-F238E27FC236}">
                <a16:creationId xmlns:a16="http://schemas.microsoft.com/office/drawing/2014/main" id="{4E350029-63DB-793F-9CA9-0D9689300E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4075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D5C6DDD6-AD82-AEA9-01E6-A497D1B0AB63}"/>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528474E2-D280-1786-BD23-12D0586419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3:notes">
            <a:extLst>
              <a:ext uri="{FF2B5EF4-FFF2-40B4-BE49-F238E27FC236}">
                <a16:creationId xmlns:a16="http://schemas.microsoft.com/office/drawing/2014/main" id="{C0D49AB5-B6E8-7919-FDFF-BD12537A88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9392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AD289C78-3079-F72D-CE38-993F70F4A1DC}"/>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309F6E12-5F49-7819-146F-D4EF683DBE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3:notes">
            <a:extLst>
              <a:ext uri="{FF2B5EF4-FFF2-40B4-BE49-F238E27FC236}">
                <a16:creationId xmlns:a16="http://schemas.microsoft.com/office/drawing/2014/main" id="{143433B3-79E5-DD99-DDE4-F90AD986B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6848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1FD93C09-19C9-E670-1668-9421B51C32C7}"/>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E6991B8D-8F83-9ECB-6E28-AED15DEB4D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3:notes">
            <a:extLst>
              <a:ext uri="{FF2B5EF4-FFF2-40B4-BE49-F238E27FC236}">
                <a16:creationId xmlns:a16="http://schemas.microsoft.com/office/drawing/2014/main" id="{B2811B52-30FA-5AA3-9FF6-BC037EB905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0162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8"/>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5" name="Google Shape;25;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
        <p:cNvGrpSpPr/>
        <p:nvPr/>
      </p:nvGrpSpPr>
      <p:grpSpPr>
        <a:xfrm>
          <a:off x="0" y="0"/>
          <a:ext cx="0" cy="0"/>
          <a:chOff x="0" y="0"/>
          <a:chExt cx="0" cy="0"/>
        </a:xfrm>
      </p:grpSpPr>
      <p:grpSp>
        <p:nvGrpSpPr>
          <p:cNvPr id="29" name="Google Shape;29;p19"/>
          <p:cNvGrpSpPr/>
          <p:nvPr/>
        </p:nvGrpSpPr>
        <p:grpSpPr>
          <a:xfrm>
            <a:off x="0" y="-8467"/>
            <a:ext cx="12192000" cy="6866467"/>
            <a:chOff x="0" y="-8467"/>
            <a:chExt cx="12192000" cy="6866467"/>
          </a:xfrm>
        </p:grpSpPr>
        <p:cxnSp>
          <p:nvCxnSpPr>
            <p:cNvPr id="30" name="Google Shape;30;p19"/>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31" name="Google Shape;31;p1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2" name="Google Shape;32;p1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a:lstStyle/>
            <a:p>
              <a:endParaRPr lang="en-US"/>
            </a:p>
          </p:txBody>
        </p:sp>
        <p:sp>
          <p:nvSpPr>
            <p:cNvPr id="33" name="Google Shape;33;p1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a:lstStyle/>
            <a:p>
              <a:endParaRPr lang="en-US"/>
            </a:p>
          </p:txBody>
        </p:sp>
        <p:sp>
          <p:nvSpPr>
            <p:cNvPr id="34" name="Google Shape;34;p1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txBody>
            <a:bodyPr/>
            <a:lstStyle/>
            <a:p>
              <a:endParaRPr lang="en-US"/>
            </a:p>
          </p:txBody>
        </p:sp>
        <p:sp>
          <p:nvSpPr>
            <p:cNvPr id="36" name="Google Shape;36;p1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txBody>
            <a:bodyPr/>
            <a:lstStyle/>
            <a:p>
              <a:endParaRPr lang="en-US"/>
            </a:p>
          </p:txBody>
        </p:sp>
        <p:sp>
          <p:nvSpPr>
            <p:cNvPr id="37" name="Google Shape;37;p1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a:lstStyle/>
            <a:p>
              <a:endParaRPr lang="en-US"/>
            </a:p>
          </p:txBody>
        </p:sp>
        <p:sp>
          <p:nvSpPr>
            <p:cNvPr id="38" name="Google Shape;38;p1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9"/>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19"/>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9"/>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2" name="Google Shape;42;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2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1"/>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21"/>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22"/>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22"/>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22"/>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25"/>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25"/>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26"/>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6"/>
          <p:cNvSpPr>
            <a:spLocks noGrp="1"/>
          </p:cNvSpPr>
          <p:nvPr>
            <p:ph type="pic" idx="2"/>
          </p:nvPr>
        </p:nvSpPr>
        <p:spPr>
          <a:xfrm>
            <a:off x="677334" y="609600"/>
            <a:ext cx="8596668" cy="3845718"/>
          </a:xfrm>
          <a:prstGeom prst="rect">
            <a:avLst/>
          </a:prstGeom>
          <a:noFill/>
          <a:ln>
            <a:noFill/>
          </a:ln>
        </p:spPr>
      </p:sp>
      <p:sp>
        <p:nvSpPr>
          <p:cNvPr id="86" name="Google Shape;86;p26"/>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2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27"/>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7"/>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2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2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28"/>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2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2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04" name="Google Shape;104;p2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29"/>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9"/>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2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30"/>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0"/>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30"/>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3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3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3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30"/>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19" name="Google Shape;119;p30"/>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31"/>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31"/>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31"/>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3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3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3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2"/>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3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33"/>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3"/>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3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7"/>
          <p:cNvGrpSpPr/>
          <p:nvPr/>
        </p:nvGrpSpPr>
        <p:grpSpPr>
          <a:xfrm>
            <a:off x="0" y="-8467"/>
            <a:ext cx="12192000" cy="6866467"/>
            <a:chOff x="0" y="-8467"/>
            <a:chExt cx="12192000" cy="6866467"/>
          </a:xfrm>
        </p:grpSpPr>
        <p:cxnSp>
          <p:nvCxnSpPr>
            <p:cNvPr id="7" name="Google Shape;7;p17"/>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17"/>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9" name="Google Shape;9;p17"/>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a:lstStyle/>
            <a:p>
              <a:endParaRPr lang="en-US"/>
            </a:p>
          </p:txBody>
        </p:sp>
        <p:sp>
          <p:nvSpPr>
            <p:cNvPr id="10" name="Google Shape;10;p17"/>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a:lstStyle/>
            <a:p>
              <a:endParaRPr lang="en-US"/>
            </a:p>
          </p:txBody>
        </p:sp>
        <p:sp>
          <p:nvSpPr>
            <p:cNvPr id="11" name="Google Shape;11;p17"/>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7"/>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txBody>
            <a:bodyPr/>
            <a:lstStyle/>
            <a:p>
              <a:endParaRPr lang="en-US"/>
            </a:p>
          </p:txBody>
        </p:sp>
        <p:sp>
          <p:nvSpPr>
            <p:cNvPr id="13" name="Google Shape;13;p17"/>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txBody>
            <a:bodyPr/>
            <a:lstStyle/>
            <a:p>
              <a:endParaRPr lang="en-US"/>
            </a:p>
          </p:txBody>
        </p:sp>
        <p:sp>
          <p:nvSpPr>
            <p:cNvPr id="14" name="Google Shape;14;p17"/>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a:lstStyle/>
            <a:p>
              <a:endParaRPr lang="en-US"/>
            </a:p>
          </p:txBody>
        </p:sp>
        <p:sp>
          <p:nvSpPr>
            <p:cNvPr id="15" name="Google Shape;15;p17"/>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7"/>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1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ECA1"/>
        </a:solidFill>
        <a:effectLst/>
      </p:bgPr>
    </p:bg>
    <p:spTree>
      <p:nvGrpSpPr>
        <p:cNvPr id="1" name="Shape 142"/>
        <p:cNvGrpSpPr/>
        <p:nvPr/>
      </p:nvGrpSpPr>
      <p:grpSpPr>
        <a:xfrm>
          <a:off x="0" y="0"/>
          <a:ext cx="0" cy="0"/>
          <a:chOff x="0" y="0"/>
          <a:chExt cx="0" cy="0"/>
        </a:xfrm>
      </p:grpSpPr>
      <p:sp>
        <p:nvSpPr>
          <p:cNvPr id="143" name="Google Shape;143;p1"/>
          <p:cNvSpPr txBox="1"/>
          <p:nvPr/>
        </p:nvSpPr>
        <p:spPr>
          <a:xfrm>
            <a:off x="1435261" y="2164466"/>
            <a:ext cx="7396223"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dirty="0">
                <a:solidFill>
                  <a:srgbClr val="3F7818"/>
                </a:solidFill>
                <a:latin typeface="Trebuchet MS"/>
                <a:ea typeface="Trebuchet MS"/>
                <a:cs typeface="Trebuchet MS"/>
                <a:sym typeface="Trebuchet MS"/>
              </a:rPr>
              <a:t>ESG-FINANCIAL ANALYSIS </a:t>
            </a:r>
            <a:endParaRPr dirty="0"/>
          </a:p>
          <a:p>
            <a:pPr marL="0" marR="0" lvl="0" indent="0" algn="l" rtl="0">
              <a:spcBef>
                <a:spcPts val="0"/>
              </a:spcBef>
              <a:spcAft>
                <a:spcPts val="0"/>
              </a:spcAft>
              <a:buNone/>
            </a:pPr>
            <a:r>
              <a:rPr lang="en-US" sz="2400" b="1" dirty="0">
                <a:solidFill>
                  <a:srgbClr val="3F7818"/>
                </a:solidFill>
                <a:latin typeface="Trebuchet MS"/>
                <a:ea typeface="Trebuchet MS"/>
                <a:cs typeface="Trebuchet MS"/>
                <a:sym typeface="Trebuchet MS"/>
              </a:rPr>
              <a:t>By Felicitas Ezechikeluba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4"/>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pic>
        <p:nvPicPr>
          <p:cNvPr id="247" name="Google Shape;247;p14"/>
          <p:cNvPicPr preferRelativeResize="0"/>
          <p:nvPr/>
        </p:nvPicPr>
        <p:blipFill rotWithShape="1">
          <a:blip r:embed="rId3"/>
          <a:srcRect/>
          <a:stretch/>
        </p:blipFill>
        <p:spPr>
          <a:xfrm>
            <a:off x="1" y="826197"/>
            <a:ext cx="12191998" cy="5914682"/>
          </a:xfrm>
          <a:prstGeom prst="rect">
            <a:avLst/>
          </a:prstGeom>
          <a:noFill/>
          <a:ln>
            <a:noFill/>
          </a:ln>
        </p:spPr>
      </p:pic>
      <p:sp>
        <p:nvSpPr>
          <p:cNvPr id="2" name="TextBox 1">
            <a:extLst>
              <a:ext uri="{FF2B5EF4-FFF2-40B4-BE49-F238E27FC236}">
                <a16:creationId xmlns:a16="http://schemas.microsoft.com/office/drawing/2014/main" id="{74D360E3-4758-1E67-2101-433B102B84B0}"/>
              </a:ext>
            </a:extLst>
          </p:cNvPr>
          <p:cNvSpPr txBox="1"/>
          <p:nvPr/>
        </p:nvSpPr>
        <p:spPr>
          <a:xfrm>
            <a:off x="314326" y="124300"/>
            <a:ext cx="3057525"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DASHBOARDS</a:t>
            </a:r>
            <a:r>
              <a:rPr lang="en-US" sz="3200" dirty="0">
                <a:solidFill>
                  <a:schemeClr val="lt1"/>
                </a:solidFill>
                <a:latin typeface="Trebuchet MS"/>
                <a:ea typeface="Trebuchet MS"/>
                <a:cs typeface="Trebuchet MS"/>
                <a:sym typeface="Trebuchet MS"/>
              </a:rPr>
              <a:t> </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49" name="Google Shape;149;p2"/>
          <p:cNvSpPr txBox="1"/>
          <p:nvPr/>
        </p:nvSpPr>
        <p:spPr>
          <a:xfrm>
            <a:off x="416690" y="196770"/>
            <a:ext cx="355523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bg1"/>
                </a:solidFill>
                <a:latin typeface="Trebuchet MS"/>
                <a:ea typeface="Trebuchet MS"/>
                <a:cs typeface="Trebuchet MS"/>
                <a:sym typeface="Trebuchet MS"/>
              </a:rPr>
              <a:t>OVERVIEW</a:t>
            </a:r>
            <a:endParaRPr dirty="0">
              <a:solidFill>
                <a:schemeClr val="bg1"/>
              </a:solidFill>
            </a:endParaRPr>
          </a:p>
        </p:txBody>
      </p:sp>
      <p:sp>
        <p:nvSpPr>
          <p:cNvPr id="150" name="Google Shape;150;p2"/>
          <p:cNvSpPr txBox="1"/>
          <p:nvPr/>
        </p:nvSpPr>
        <p:spPr>
          <a:xfrm>
            <a:off x="1070660" y="1546952"/>
            <a:ext cx="8244790" cy="3780866"/>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3200" dirty="0">
                <a:solidFill>
                  <a:schemeClr val="dk1"/>
                </a:solidFill>
                <a:latin typeface="Times New Roman"/>
                <a:ea typeface="Times New Roman"/>
                <a:cs typeface="Times New Roman"/>
                <a:sym typeface="Times New Roman"/>
              </a:rPr>
              <a:t>This project explores the relationship between Environmental, Social, and Governance (ESG) scores and key financial metrics across 1,000 publicly traded companies globally (2015–2025). It aims to uncover patterns to guide investors toward sustainable and high-performing companies by industry and region. </a:t>
            </a:r>
            <a:endParaRPr sz="28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DECEF940-E95E-D03B-12E3-0F4800B27A78}"/>
            </a:ext>
          </a:extLst>
        </p:cNvPr>
        <p:cNvGrpSpPr/>
        <p:nvPr/>
      </p:nvGrpSpPr>
      <p:grpSpPr>
        <a:xfrm>
          <a:off x="0" y="0"/>
          <a:ext cx="0" cy="0"/>
          <a:chOff x="0" y="0"/>
          <a:chExt cx="0" cy="0"/>
        </a:xfrm>
      </p:grpSpPr>
      <p:sp>
        <p:nvSpPr>
          <p:cNvPr id="155" name="Google Shape;155;p3">
            <a:extLst>
              <a:ext uri="{FF2B5EF4-FFF2-40B4-BE49-F238E27FC236}">
                <a16:creationId xmlns:a16="http://schemas.microsoft.com/office/drawing/2014/main" id="{95C5AA01-50E4-D06A-2072-74B223BCB497}"/>
              </a:ext>
            </a:extLst>
          </p:cNvPr>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Trebuchet MS"/>
              <a:ea typeface="Trebuchet MS"/>
              <a:cs typeface="Trebuchet MS"/>
              <a:sym typeface="Trebuchet MS"/>
            </a:endParaRPr>
          </a:p>
        </p:txBody>
      </p:sp>
      <p:sp>
        <p:nvSpPr>
          <p:cNvPr id="156" name="Google Shape;156;p3">
            <a:extLst>
              <a:ext uri="{FF2B5EF4-FFF2-40B4-BE49-F238E27FC236}">
                <a16:creationId xmlns:a16="http://schemas.microsoft.com/office/drawing/2014/main" id="{479590B1-CE9A-85AE-28CF-0D6E40562521}"/>
              </a:ext>
            </a:extLst>
          </p:cNvPr>
          <p:cNvSpPr txBox="1"/>
          <p:nvPr/>
        </p:nvSpPr>
        <p:spPr>
          <a:xfrm>
            <a:off x="1042988" y="970126"/>
            <a:ext cx="8972550" cy="6678263"/>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000"/>
              <a:buFont typeface="Times New Roman"/>
              <a:buNone/>
            </a:pPr>
            <a:r>
              <a:rPr lang="en-US" sz="2400" b="1" dirty="0">
                <a:solidFill>
                  <a:schemeClr val="dk1"/>
                </a:solidFill>
                <a:latin typeface="Trebuchet MS" panose="020B0603020202020204" pitchFamily="34" charset="0"/>
                <a:ea typeface="Times New Roman"/>
                <a:cs typeface="Times New Roman"/>
                <a:sym typeface="Times New Roman"/>
              </a:rPr>
              <a:t>What is ESG?</a:t>
            </a:r>
          </a:p>
          <a:p>
            <a:pPr marL="0" marR="0" lvl="0" indent="0" algn="l" rtl="0">
              <a:lnSpc>
                <a:spcPct val="107000"/>
              </a:lnSpc>
              <a:spcBef>
                <a:spcPts val="0"/>
              </a:spcBef>
              <a:spcAft>
                <a:spcPts val="0"/>
              </a:spcAft>
              <a:buClr>
                <a:schemeClr val="dk1"/>
              </a:buClr>
              <a:buSzPts val="2000"/>
              <a:buFont typeface="Times New Roman"/>
              <a:buNone/>
            </a:pPr>
            <a:endParaRPr lang="en-US" sz="1200"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20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A framework for evaluating a company’s long-term sustainability and ethical impact beyond financial metrics.</a:t>
            </a:r>
          </a:p>
          <a:p>
            <a:pPr marL="0" marR="0" lvl="0" indent="0" algn="l" rtl="0">
              <a:lnSpc>
                <a:spcPct val="107000"/>
              </a:lnSpc>
              <a:spcBef>
                <a:spcPts val="0"/>
              </a:spcBef>
              <a:spcAft>
                <a:spcPts val="0"/>
              </a:spcAft>
              <a:buClr>
                <a:schemeClr val="dk1"/>
              </a:buClr>
              <a:buSzPts val="2000"/>
              <a:buFont typeface="Times New Roman"/>
              <a:buNone/>
            </a:pPr>
            <a:endParaRPr lang="en-US" sz="1800" b="1" dirty="0">
              <a:solidFill>
                <a:schemeClr val="dk1"/>
              </a:solidFill>
              <a:latin typeface="Trebuchet MS" panose="020B0603020202020204" pitchFamily="34" charset="0"/>
              <a:ea typeface="Times New Roman"/>
              <a:cs typeface="Times New Roman"/>
              <a:sym typeface="Times New Roman"/>
            </a:endParaRPr>
          </a:p>
          <a:p>
            <a:pPr marL="171450" marR="0" lvl="0" indent="-171450" algn="l" rtl="0">
              <a:lnSpc>
                <a:spcPct val="107000"/>
              </a:lnSpc>
              <a:spcBef>
                <a:spcPts val="0"/>
              </a:spcBef>
              <a:spcAft>
                <a:spcPts val="0"/>
              </a:spcAft>
              <a:buClr>
                <a:schemeClr val="dk1"/>
              </a:buClr>
              <a:buSzPts val="2000"/>
              <a:buFont typeface="Arial" panose="020B0604020202020204" pitchFamily="34" charset="0"/>
              <a:buChar char="•"/>
            </a:pPr>
            <a:r>
              <a:rPr lang="en-US" sz="1800" b="1" dirty="0">
                <a:solidFill>
                  <a:schemeClr val="dk1"/>
                </a:solidFill>
                <a:latin typeface="Trebuchet MS" panose="020B0603020202020204" pitchFamily="34" charset="0"/>
                <a:ea typeface="Times New Roman"/>
                <a:cs typeface="Times New Roman"/>
                <a:sym typeface="Times New Roman"/>
              </a:rPr>
              <a:t>E – Environmental</a:t>
            </a:r>
          </a:p>
          <a:p>
            <a:pPr marL="0" marR="0" lvl="0" indent="0" algn="l" rtl="0">
              <a:lnSpc>
                <a:spcPct val="107000"/>
              </a:lnSpc>
              <a:spcBef>
                <a:spcPts val="0"/>
              </a:spcBef>
              <a:spcAft>
                <a:spcPts val="0"/>
              </a:spcAft>
              <a:buClr>
                <a:schemeClr val="dk1"/>
              </a:buClr>
              <a:buSzPts val="20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  How a company manages its impact on nature — e.g., emissions, energy use, waste.</a:t>
            </a:r>
          </a:p>
          <a:p>
            <a:pPr marL="0" marR="0" lvl="0" indent="0" algn="l" rtl="0">
              <a:lnSpc>
                <a:spcPct val="107000"/>
              </a:lnSpc>
              <a:spcBef>
                <a:spcPts val="0"/>
              </a:spcBef>
              <a:spcAft>
                <a:spcPts val="0"/>
              </a:spcAft>
              <a:buClr>
                <a:schemeClr val="dk1"/>
              </a:buClr>
              <a:buSzPts val="2000"/>
              <a:buFont typeface="Times New Roman"/>
              <a:buNone/>
            </a:pPr>
            <a:endParaRPr lang="en-US" sz="1800" b="1" dirty="0">
              <a:solidFill>
                <a:schemeClr val="dk1"/>
              </a:solidFill>
              <a:latin typeface="Trebuchet MS" panose="020B0603020202020204" pitchFamily="34" charset="0"/>
              <a:ea typeface="Times New Roman"/>
              <a:cs typeface="Times New Roman"/>
              <a:sym typeface="Times New Roman"/>
            </a:endParaRPr>
          </a:p>
          <a:p>
            <a:pPr marL="171450" marR="0" lvl="0" indent="-171450" algn="l" rtl="0">
              <a:lnSpc>
                <a:spcPct val="107000"/>
              </a:lnSpc>
              <a:spcBef>
                <a:spcPts val="0"/>
              </a:spcBef>
              <a:spcAft>
                <a:spcPts val="0"/>
              </a:spcAft>
              <a:buClr>
                <a:schemeClr val="dk1"/>
              </a:buClr>
              <a:buSzPts val="2000"/>
              <a:buFont typeface="Arial" panose="020B0604020202020204" pitchFamily="34" charset="0"/>
              <a:buChar char="•"/>
            </a:pPr>
            <a:r>
              <a:rPr lang="en-US" sz="1800" b="1" dirty="0">
                <a:solidFill>
                  <a:schemeClr val="dk1"/>
                </a:solidFill>
                <a:latin typeface="Trebuchet MS" panose="020B0603020202020204" pitchFamily="34" charset="0"/>
                <a:ea typeface="Times New Roman"/>
                <a:cs typeface="Times New Roman"/>
                <a:sym typeface="Times New Roman"/>
              </a:rPr>
              <a:t> S – Social</a:t>
            </a:r>
          </a:p>
          <a:p>
            <a:pPr marL="0" marR="0" lvl="0" indent="0" algn="l" rtl="0">
              <a:lnSpc>
                <a:spcPct val="107000"/>
              </a:lnSpc>
              <a:spcBef>
                <a:spcPts val="0"/>
              </a:spcBef>
              <a:spcAft>
                <a:spcPts val="0"/>
              </a:spcAft>
              <a:buClr>
                <a:schemeClr val="dk1"/>
              </a:buClr>
              <a:buSzPts val="20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  How a company treats people — employees, customers, communities, and suppliers.</a:t>
            </a:r>
          </a:p>
          <a:p>
            <a:pPr marL="0" marR="0" lvl="0" indent="0" algn="l" rtl="0">
              <a:lnSpc>
                <a:spcPct val="107000"/>
              </a:lnSpc>
              <a:spcBef>
                <a:spcPts val="0"/>
              </a:spcBef>
              <a:spcAft>
                <a:spcPts val="0"/>
              </a:spcAft>
              <a:buClr>
                <a:schemeClr val="dk1"/>
              </a:buClr>
              <a:buSzPts val="2000"/>
              <a:buFont typeface="Times New Roman"/>
              <a:buNone/>
            </a:pPr>
            <a:endParaRPr lang="en-US" sz="1800" b="1" dirty="0">
              <a:solidFill>
                <a:schemeClr val="dk1"/>
              </a:solidFill>
              <a:latin typeface="Trebuchet MS" panose="020B0603020202020204" pitchFamily="34" charset="0"/>
              <a:ea typeface="Times New Roman"/>
              <a:cs typeface="Times New Roman"/>
              <a:sym typeface="Times New Roman"/>
            </a:endParaRPr>
          </a:p>
          <a:p>
            <a:pPr marL="171450" marR="0" lvl="0" indent="-171450" algn="l" rtl="0">
              <a:lnSpc>
                <a:spcPct val="107000"/>
              </a:lnSpc>
              <a:spcBef>
                <a:spcPts val="0"/>
              </a:spcBef>
              <a:spcAft>
                <a:spcPts val="0"/>
              </a:spcAft>
              <a:buClr>
                <a:schemeClr val="dk1"/>
              </a:buClr>
              <a:buSzPts val="2000"/>
              <a:buFont typeface="Arial" panose="020B0604020202020204" pitchFamily="34" charset="0"/>
              <a:buChar char="•"/>
            </a:pPr>
            <a:r>
              <a:rPr lang="en-US" sz="1800" b="1" dirty="0">
                <a:solidFill>
                  <a:schemeClr val="dk1"/>
                </a:solidFill>
                <a:latin typeface="Trebuchet MS" panose="020B0603020202020204" pitchFamily="34" charset="0"/>
                <a:ea typeface="Times New Roman"/>
                <a:cs typeface="Times New Roman"/>
                <a:sym typeface="Times New Roman"/>
              </a:rPr>
              <a:t>G – Governance</a:t>
            </a:r>
          </a:p>
          <a:p>
            <a:pPr marL="0" marR="0" lvl="0" indent="0" algn="l" rtl="0">
              <a:lnSpc>
                <a:spcPct val="107000"/>
              </a:lnSpc>
              <a:spcBef>
                <a:spcPts val="0"/>
              </a:spcBef>
              <a:spcAft>
                <a:spcPts val="0"/>
              </a:spcAft>
              <a:buClr>
                <a:schemeClr val="dk1"/>
              </a:buClr>
              <a:buSzPts val="20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  How a company is run — leadership ethics, board structure, transparency, compliance.</a:t>
            </a:r>
          </a:p>
          <a:p>
            <a:pPr marL="0" marR="0" lvl="0" indent="0" algn="l" rtl="0">
              <a:lnSpc>
                <a:spcPct val="107000"/>
              </a:lnSpc>
              <a:spcBef>
                <a:spcPts val="0"/>
              </a:spcBef>
              <a:spcAft>
                <a:spcPts val="0"/>
              </a:spcAft>
              <a:buClr>
                <a:schemeClr val="dk1"/>
              </a:buClr>
              <a:buSzPts val="2000"/>
              <a:buFont typeface="Times New Roman"/>
              <a:buNone/>
            </a:pPr>
            <a:endParaRPr lang="en-US" sz="1800"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20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It Used by investors, consumers, and regulators to assess responsibility and future performance.</a:t>
            </a:r>
            <a:endParaRPr lang="en-US"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2000"/>
              <a:buFont typeface="Times New Roman"/>
              <a:buNone/>
            </a:pPr>
            <a:endParaRPr lang="en-US"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2000"/>
              <a:buFont typeface="Times New Roman"/>
              <a:buNone/>
            </a:pPr>
            <a:endParaRPr lang="en-US" sz="2400"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2000"/>
              <a:buFont typeface="Times New Roman"/>
              <a:buNone/>
            </a:pPr>
            <a:endParaRPr lang="en-US" sz="2000" b="1" dirty="0">
              <a:solidFill>
                <a:schemeClr val="dk1"/>
              </a:solidFill>
              <a:latin typeface="Trebuchet MS" panose="020B0603020202020204" pitchFamily="34" charset="0"/>
              <a:ea typeface="Calibri"/>
              <a:cs typeface="Calibri"/>
              <a:sym typeface="Calibri"/>
            </a:endParaRPr>
          </a:p>
        </p:txBody>
      </p:sp>
      <p:sp>
        <p:nvSpPr>
          <p:cNvPr id="2" name="TextBox 1">
            <a:extLst>
              <a:ext uri="{FF2B5EF4-FFF2-40B4-BE49-F238E27FC236}">
                <a16:creationId xmlns:a16="http://schemas.microsoft.com/office/drawing/2014/main" id="{AA8E3A7E-6056-6816-085D-286FCCE85A01}"/>
              </a:ext>
            </a:extLst>
          </p:cNvPr>
          <p:cNvSpPr txBox="1"/>
          <p:nvPr/>
        </p:nvSpPr>
        <p:spPr>
          <a:xfrm>
            <a:off x="0" y="291218"/>
            <a:ext cx="53292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bg1"/>
                </a:solidFill>
                <a:latin typeface="Trebuchet MS"/>
                <a:ea typeface="Trebuchet MS"/>
                <a:cs typeface="Trebuchet MS"/>
                <a:sym typeface="Trebuchet MS"/>
              </a:rPr>
              <a:t>PROJECT</a:t>
            </a:r>
            <a:r>
              <a:rPr lang="en-US" sz="2400" b="1" dirty="0">
                <a:solidFill>
                  <a:schemeClr val="bg1"/>
                </a:solidFill>
                <a:latin typeface="Trebuchet MS"/>
                <a:ea typeface="Trebuchet MS"/>
                <a:cs typeface="Trebuchet MS"/>
                <a:sym typeface="Trebuchet MS"/>
              </a:rPr>
              <a:t> </a:t>
            </a:r>
            <a:r>
              <a:rPr lang="en-US" sz="3200" b="1" dirty="0">
                <a:solidFill>
                  <a:schemeClr val="bg1"/>
                </a:solidFill>
                <a:latin typeface="Trebuchet MS"/>
                <a:ea typeface="Trebuchet MS"/>
                <a:cs typeface="Trebuchet MS"/>
                <a:sym typeface="Trebuchet MS"/>
              </a:rPr>
              <a:t>BACKGROUND</a:t>
            </a:r>
            <a:endParaRPr lang="en-US" sz="2400" b="1" dirty="0">
              <a:solidFill>
                <a:schemeClr val="bg1"/>
              </a:solidFill>
              <a:latin typeface="Trebuchet MS"/>
              <a:ea typeface="Trebuchet MS"/>
              <a:cs typeface="Trebuchet MS"/>
              <a:sym typeface="Trebuchet MS"/>
            </a:endParaRPr>
          </a:p>
        </p:txBody>
      </p:sp>
    </p:spTree>
    <p:extLst>
      <p:ext uri="{BB962C8B-B14F-4D97-AF65-F5344CB8AC3E}">
        <p14:creationId xmlns:p14="http://schemas.microsoft.com/office/powerpoint/2010/main" val="3238923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Trebuchet MS"/>
              <a:ea typeface="Trebuchet MS"/>
              <a:cs typeface="Trebuchet MS"/>
              <a:sym typeface="Trebuchet MS"/>
            </a:endParaRPr>
          </a:p>
        </p:txBody>
      </p:sp>
      <p:sp>
        <p:nvSpPr>
          <p:cNvPr id="156" name="Google Shape;156;p3"/>
          <p:cNvSpPr txBox="1"/>
          <p:nvPr/>
        </p:nvSpPr>
        <p:spPr>
          <a:xfrm>
            <a:off x="1042988" y="970126"/>
            <a:ext cx="8972550" cy="560316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000"/>
              <a:buFont typeface="Times New Roman"/>
              <a:buNone/>
            </a:pPr>
            <a:r>
              <a:rPr lang="en-US" sz="2400" b="1" dirty="0">
                <a:solidFill>
                  <a:schemeClr val="dk1"/>
                </a:solidFill>
                <a:latin typeface="Times New Roman"/>
                <a:ea typeface="Times New Roman"/>
                <a:cs typeface="Times New Roman"/>
                <a:sym typeface="Times New Roman"/>
              </a:rPr>
              <a:t>Why ESG Matters</a:t>
            </a:r>
            <a:endParaRPr sz="2000" b="1" dirty="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chemeClr val="dk1"/>
              </a:buClr>
              <a:buSzPts val="2000"/>
              <a:buFont typeface="Noto Sans Symbols"/>
              <a:buChar char="∙"/>
            </a:pPr>
            <a:r>
              <a:rPr lang="en-US" sz="2400" dirty="0">
                <a:solidFill>
                  <a:schemeClr val="dk1"/>
                </a:solidFill>
                <a:latin typeface="Times New Roman"/>
                <a:ea typeface="Times New Roman"/>
                <a:cs typeface="Times New Roman"/>
                <a:sym typeface="Times New Roman"/>
              </a:rPr>
              <a:t>Investors rely on ESG scores to identify sustainable, lower-risk investment opportunities and Industries.</a:t>
            </a:r>
            <a:endParaRPr sz="2000" dirty="0">
              <a:solidFill>
                <a:schemeClr val="dk1"/>
              </a:solidFill>
              <a:latin typeface="Calibri"/>
              <a:ea typeface="Calibri"/>
              <a:cs typeface="Calibri"/>
              <a:sym typeface="Calibri"/>
            </a:endParaRPr>
          </a:p>
          <a:p>
            <a:pPr marL="342900" marR="0" lvl="0" indent="-342900" algn="l" rtl="0">
              <a:lnSpc>
                <a:spcPct val="107000"/>
              </a:lnSpc>
              <a:spcBef>
                <a:spcPts val="0"/>
              </a:spcBef>
              <a:spcAft>
                <a:spcPts val="0"/>
              </a:spcAft>
              <a:buClr>
                <a:schemeClr val="dk1"/>
              </a:buClr>
              <a:buSzPts val="2000"/>
              <a:buFont typeface="Noto Sans Symbols"/>
              <a:buChar char="∙"/>
            </a:pPr>
            <a:r>
              <a:rPr lang="en-US" sz="2400" dirty="0">
                <a:solidFill>
                  <a:schemeClr val="dk1"/>
                </a:solidFill>
                <a:latin typeface="Times New Roman"/>
                <a:ea typeface="Times New Roman"/>
                <a:cs typeface="Times New Roman"/>
                <a:sym typeface="Times New Roman"/>
              </a:rPr>
              <a:t>Stakeholders view strong ESG performance as an indicator of long-term value, ethical governance, and social responsibility.</a:t>
            </a:r>
            <a:endParaRPr sz="2000" dirty="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Clr>
                <a:schemeClr val="dk1"/>
              </a:buClr>
              <a:buSzPts val="2000"/>
              <a:buFont typeface="Times New Roman"/>
              <a:buNone/>
            </a:pPr>
            <a:r>
              <a:rPr lang="en-US" sz="2400" dirty="0">
                <a:solidFill>
                  <a:schemeClr val="dk1"/>
                </a:solidFill>
                <a:latin typeface="Times New Roman"/>
                <a:ea typeface="Times New Roman"/>
                <a:cs typeface="Times New Roman"/>
                <a:sym typeface="Times New Roman"/>
              </a:rPr>
              <a:t>While ESG data is widely available, its direct link to financial performance is often unclear or underutilized. Investors and stakeholders need a clearer understanding of:</a:t>
            </a:r>
            <a:endParaRPr sz="2000" dirty="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chemeClr val="dk1"/>
              </a:buClr>
              <a:buSzPts val="2000"/>
              <a:buFont typeface="Noto Sans Symbols"/>
              <a:buChar char="∙"/>
            </a:pPr>
            <a:r>
              <a:rPr lang="en-US" sz="2400" dirty="0">
                <a:solidFill>
                  <a:schemeClr val="dk1"/>
                </a:solidFill>
                <a:latin typeface="Times New Roman"/>
                <a:ea typeface="Times New Roman"/>
                <a:cs typeface="Times New Roman"/>
                <a:sym typeface="Times New Roman"/>
              </a:rPr>
              <a:t>Which ESG pillars (Environmental, Social, Governance) drive the most value.</a:t>
            </a:r>
            <a:endParaRPr sz="2000" dirty="0">
              <a:solidFill>
                <a:schemeClr val="dk1"/>
              </a:solidFill>
              <a:latin typeface="Calibri"/>
              <a:ea typeface="Calibri"/>
              <a:cs typeface="Calibri"/>
              <a:sym typeface="Calibri"/>
            </a:endParaRPr>
          </a:p>
          <a:p>
            <a:pPr marL="342900" marR="0" lvl="0" indent="-342900" algn="l" rtl="0">
              <a:lnSpc>
                <a:spcPct val="107000"/>
              </a:lnSpc>
              <a:spcBef>
                <a:spcPts val="0"/>
              </a:spcBef>
              <a:spcAft>
                <a:spcPts val="0"/>
              </a:spcAft>
              <a:buClr>
                <a:schemeClr val="dk1"/>
              </a:buClr>
              <a:buSzPts val="2000"/>
              <a:buFont typeface="Noto Sans Symbols"/>
              <a:buChar char="∙"/>
            </a:pPr>
            <a:r>
              <a:rPr lang="en-US" sz="2400" dirty="0">
                <a:solidFill>
                  <a:schemeClr val="dk1"/>
                </a:solidFill>
                <a:latin typeface="Times New Roman"/>
                <a:ea typeface="Times New Roman"/>
                <a:cs typeface="Times New Roman"/>
                <a:sym typeface="Times New Roman"/>
              </a:rPr>
              <a:t>Which industries or regions lead or lag in ESG performance.</a:t>
            </a:r>
            <a:endParaRPr sz="2000" dirty="0">
              <a:solidFill>
                <a:schemeClr val="dk1"/>
              </a:solidFill>
              <a:latin typeface="Calibri"/>
              <a:ea typeface="Calibri"/>
              <a:cs typeface="Calibri"/>
              <a:sym typeface="Calibri"/>
            </a:endParaRPr>
          </a:p>
          <a:p>
            <a:pPr marL="342900" marR="0" lvl="0" indent="-342900" algn="l" rtl="0">
              <a:lnSpc>
                <a:spcPct val="107000"/>
              </a:lnSpc>
              <a:spcBef>
                <a:spcPts val="0"/>
              </a:spcBef>
              <a:spcAft>
                <a:spcPts val="0"/>
              </a:spcAft>
              <a:buClr>
                <a:schemeClr val="dk1"/>
              </a:buClr>
              <a:buSzPts val="2000"/>
              <a:buFont typeface="Noto Sans Symbols"/>
              <a:buChar char="∙"/>
            </a:pPr>
            <a:r>
              <a:rPr lang="en-US" sz="2400" dirty="0">
                <a:solidFill>
                  <a:schemeClr val="dk1"/>
                </a:solidFill>
                <a:latin typeface="Times New Roman"/>
                <a:ea typeface="Times New Roman"/>
                <a:cs typeface="Times New Roman"/>
                <a:sym typeface="Times New Roman"/>
              </a:rPr>
              <a:t>Whether high ESG scores translate into strong financial outcomes.</a:t>
            </a:r>
            <a:endParaRPr sz="2000" dirty="0">
              <a:solidFill>
                <a:schemeClr val="dk1"/>
              </a:solidFill>
              <a:latin typeface="Calibri"/>
              <a:ea typeface="Calibri"/>
              <a:cs typeface="Calibri"/>
              <a:sym typeface="Calibri"/>
            </a:endParaRPr>
          </a:p>
          <a:p>
            <a:pPr marL="457200" marR="0" lvl="0" indent="0" algn="l" rtl="0">
              <a:lnSpc>
                <a:spcPct val="107000"/>
              </a:lnSpc>
              <a:spcBef>
                <a:spcPts val="0"/>
              </a:spcBef>
              <a:spcAft>
                <a:spcPts val="0"/>
              </a:spcAft>
              <a:buNone/>
            </a:pPr>
            <a:r>
              <a:rPr lang="en-US" sz="2400" dirty="0">
                <a:solidFill>
                  <a:schemeClr val="dk1"/>
                </a:solidFill>
                <a:latin typeface="Times New Roman"/>
                <a:ea typeface="Times New Roman"/>
                <a:cs typeface="Times New Roman"/>
                <a:sym typeface="Times New Roman"/>
              </a:rPr>
              <a:t> </a:t>
            </a:r>
            <a:endParaRPr sz="2000"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D6110055-5637-930A-01D1-F1691CBE51F6}"/>
              </a:ext>
            </a:extLst>
          </p:cNvPr>
          <p:cNvSpPr txBox="1"/>
          <p:nvPr/>
        </p:nvSpPr>
        <p:spPr>
          <a:xfrm>
            <a:off x="0" y="291218"/>
            <a:ext cx="53292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bg1"/>
                </a:solidFill>
                <a:latin typeface="Trebuchet MS"/>
                <a:ea typeface="Trebuchet MS"/>
                <a:cs typeface="Trebuchet MS"/>
                <a:sym typeface="Trebuchet MS"/>
              </a:rPr>
              <a:t>PROJECT</a:t>
            </a:r>
            <a:r>
              <a:rPr lang="en-US" sz="2400" b="1" dirty="0">
                <a:solidFill>
                  <a:schemeClr val="bg1"/>
                </a:solidFill>
                <a:latin typeface="Trebuchet MS"/>
                <a:ea typeface="Trebuchet MS"/>
                <a:cs typeface="Trebuchet MS"/>
                <a:sym typeface="Trebuchet MS"/>
              </a:rPr>
              <a:t> </a:t>
            </a:r>
            <a:r>
              <a:rPr lang="en-US" sz="3200" b="1" dirty="0">
                <a:solidFill>
                  <a:schemeClr val="bg1"/>
                </a:solidFill>
                <a:latin typeface="Trebuchet MS"/>
                <a:ea typeface="Trebuchet MS"/>
                <a:cs typeface="Trebuchet MS"/>
                <a:sym typeface="Trebuchet MS"/>
              </a:rPr>
              <a:t>BACKGROUND</a:t>
            </a:r>
            <a:endParaRPr lang="en-US" sz="2400" b="1" dirty="0">
              <a:solidFill>
                <a:schemeClr val="bg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4"/>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162" name="Google Shape;162;p4"/>
          <p:cNvSpPr/>
          <p:nvPr/>
        </p:nvSpPr>
        <p:spPr>
          <a:xfrm>
            <a:off x="1482140" y="1066136"/>
            <a:ext cx="7827380" cy="4063076"/>
          </a:xfrm>
          <a:prstGeom prst="ellipse">
            <a:avLst/>
          </a:prstGeom>
          <a:solidFill>
            <a:schemeClr val="accent1"/>
          </a:solidFill>
          <a:ln w="19050" cap="rnd" cmpd="sng">
            <a:solidFill>
              <a:srgbClr val="3C51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7000"/>
              </a:lnSpc>
              <a:spcBef>
                <a:spcPts val="0"/>
              </a:spcBef>
              <a:spcAft>
                <a:spcPts val="0"/>
              </a:spcAft>
              <a:buNone/>
            </a:pPr>
            <a:r>
              <a:rPr lang="en-US" sz="3200" b="1" i="1" dirty="0">
                <a:solidFill>
                  <a:schemeClr val="dk1"/>
                </a:solidFill>
                <a:latin typeface="Times New Roman"/>
                <a:ea typeface="Times New Roman"/>
                <a:cs typeface="Times New Roman"/>
                <a:sym typeface="Times New Roman"/>
              </a:rPr>
              <a:t>Do companies with higher ESG scores perform better and have more market value across industries?</a:t>
            </a:r>
            <a:endParaRPr sz="2800" b="1" i="1"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1141F677-CA41-BF2A-718F-5FCAE3ED0F1E}"/>
              </a:ext>
            </a:extLst>
          </p:cNvPr>
          <p:cNvSpPr txBox="1"/>
          <p:nvPr/>
        </p:nvSpPr>
        <p:spPr>
          <a:xfrm>
            <a:off x="400048" y="212755"/>
            <a:ext cx="4381499"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bg1"/>
                </a:solidFill>
                <a:latin typeface="Trebuchet MS"/>
                <a:ea typeface="Trebuchet MS"/>
                <a:cs typeface="Trebuchet MS"/>
                <a:sym typeface="Trebuchet MS"/>
              </a:rPr>
              <a:t>PROBLEM STATEMENT</a:t>
            </a:r>
            <a:endParaRPr lang="en-US" sz="32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168" name="Google Shape;168;p5"/>
          <p:cNvSpPr txBox="1"/>
          <p:nvPr/>
        </p:nvSpPr>
        <p:spPr>
          <a:xfrm>
            <a:off x="763929" y="2650494"/>
            <a:ext cx="8708684" cy="4077999"/>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000"/>
              <a:buFont typeface="Times New Roman"/>
              <a:buNone/>
            </a:pPr>
            <a:r>
              <a:rPr lang="en-US" sz="2200" b="1" dirty="0">
                <a:solidFill>
                  <a:schemeClr val="dk1"/>
                </a:solidFill>
                <a:latin typeface="Times New Roman"/>
                <a:ea typeface="Times New Roman"/>
                <a:cs typeface="Times New Roman"/>
                <a:sym typeface="Times New Roman"/>
              </a:rPr>
              <a:t>PROJECT OBJECTIVES</a:t>
            </a:r>
            <a:endParaRPr sz="2200" dirty="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Clr>
                <a:schemeClr val="dk1"/>
              </a:buClr>
              <a:buSzPts val="1800"/>
              <a:buFont typeface="Times New Roman"/>
              <a:buNone/>
            </a:pPr>
            <a:r>
              <a:rPr lang="en-US" sz="2200" dirty="0">
                <a:solidFill>
                  <a:schemeClr val="dk1"/>
                </a:solidFill>
                <a:latin typeface="Times New Roman"/>
                <a:ea typeface="Times New Roman"/>
                <a:cs typeface="Times New Roman"/>
                <a:sym typeface="Times New Roman"/>
              </a:rPr>
              <a:t>This project focuses on the financial relevance of ESG data, especially in guiding sustainable investments across industries and regions, and it will clearly define how ESG factors relate to company financials. This includes: </a:t>
            </a:r>
            <a:endParaRPr sz="2200" dirty="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Clr>
                <a:schemeClr val="dk1"/>
              </a:buClr>
              <a:buSzPts val="1800"/>
              <a:buFont typeface="Times New Roman"/>
              <a:buNone/>
            </a:pPr>
            <a:r>
              <a:rPr lang="en-US" sz="2200" dirty="0">
                <a:solidFill>
                  <a:schemeClr val="dk1"/>
                </a:solidFill>
                <a:latin typeface="Times New Roman"/>
                <a:ea typeface="Times New Roman"/>
                <a:cs typeface="Times New Roman"/>
                <a:sym typeface="Times New Roman"/>
              </a:rPr>
              <a:t>∙ Identifying high- and low-performing companies from an ESG perspective. </a:t>
            </a:r>
            <a:endParaRPr sz="2200" dirty="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Clr>
                <a:schemeClr val="dk1"/>
              </a:buClr>
              <a:buSzPts val="1800"/>
              <a:buFont typeface="Times New Roman"/>
              <a:buNone/>
            </a:pPr>
            <a:r>
              <a:rPr lang="en-US" sz="2200" dirty="0">
                <a:solidFill>
                  <a:schemeClr val="dk1"/>
                </a:solidFill>
                <a:latin typeface="Times New Roman"/>
                <a:ea typeface="Times New Roman"/>
                <a:cs typeface="Times New Roman"/>
                <a:sym typeface="Times New Roman"/>
              </a:rPr>
              <a:t>∙ Investigating which ESG pillars (Environmental, Social, Governance) most strongly correlate with financial success. </a:t>
            </a:r>
            <a:endParaRPr sz="2200" dirty="0">
              <a:solidFill>
                <a:schemeClr val="dk1"/>
              </a:solidFill>
              <a:latin typeface="Calibri"/>
              <a:ea typeface="Calibri"/>
              <a:cs typeface="Calibri"/>
              <a:sym typeface="Calibri"/>
            </a:endParaRPr>
          </a:p>
          <a:p>
            <a:pPr marL="0" marR="0" lvl="0" indent="0" algn="l" rtl="0">
              <a:spcBef>
                <a:spcPts val="800"/>
              </a:spcBef>
              <a:spcAft>
                <a:spcPts val="0"/>
              </a:spcAft>
              <a:buClr>
                <a:schemeClr val="dk1"/>
              </a:buClr>
              <a:buSzPts val="1800"/>
              <a:buFont typeface="Times New Roman"/>
              <a:buNone/>
            </a:pPr>
            <a:r>
              <a:rPr lang="en-US" sz="2200" dirty="0">
                <a:solidFill>
                  <a:schemeClr val="dk1"/>
                </a:solidFill>
                <a:latin typeface="Times New Roman"/>
                <a:ea typeface="Times New Roman"/>
                <a:cs typeface="Times New Roman"/>
                <a:sym typeface="Times New Roman"/>
              </a:rPr>
              <a:t>∙ Recognizing industry or regional patterns in ESG scores and performance metrics</a:t>
            </a:r>
            <a:endParaRPr sz="2200" dirty="0">
              <a:solidFill>
                <a:schemeClr val="dk1"/>
              </a:solidFill>
              <a:latin typeface="Trebuchet MS"/>
              <a:ea typeface="Trebuchet MS"/>
              <a:cs typeface="Trebuchet MS"/>
              <a:sym typeface="Trebuchet MS"/>
            </a:endParaRPr>
          </a:p>
        </p:txBody>
      </p:sp>
      <p:sp>
        <p:nvSpPr>
          <p:cNvPr id="169" name="Google Shape;169;p5"/>
          <p:cNvSpPr txBox="1"/>
          <p:nvPr/>
        </p:nvSpPr>
        <p:spPr>
          <a:xfrm>
            <a:off x="763929" y="1088628"/>
            <a:ext cx="6105644" cy="160572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1800"/>
              <a:buFont typeface="Times New Roman"/>
              <a:buNone/>
            </a:pPr>
            <a:r>
              <a:rPr lang="en-US" sz="2200" b="1" dirty="0">
                <a:solidFill>
                  <a:schemeClr val="dk1"/>
                </a:solidFill>
                <a:latin typeface="Times New Roman"/>
                <a:ea typeface="Times New Roman"/>
                <a:cs typeface="Times New Roman"/>
                <a:sym typeface="Times New Roman"/>
              </a:rPr>
              <a:t>GOALS</a:t>
            </a:r>
            <a:endParaRPr sz="2200" dirty="0">
              <a:solidFill>
                <a:schemeClr val="dk1"/>
              </a:solidFill>
              <a:latin typeface="Calibri"/>
              <a:ea typeface="Calibri"/>
              <a:cs typeface="Calibri"/>
              <a:sym typeface="Calibri"/>
            </a:endParaRPr>
          </a:p>
          <a:p>
            <a:pPr marL="0" marR="0" lvl="0" indent="0" algn="l" rtl="0">
              <a:spcBef>
                <a:spcPts val="800"/>
              </a:spcBef>
              <a:spcAft>
                <a:spcPts val="0"/>
              </a:spcAft>
              <a:buClr>
                <a:schemeClr val="dk1"/>
              </a:buClr>
              <a:buSzPts val="1800"/>
              <a:buFont typeface="Times New Roman"/>
              <a:buNone/>
            </a:pPr>
            <a:r>
              <a:rPr lang="en-US" sz="2200" dirty="0">
                <a:solidFill>
                  <a:schemeClr val="dk1"/>
                </a:solidFill>
                <a:latin typeface="Times New Roman"/>
                <a:ea typeface="Times New Roman"/>
                <a:cs typeface="Times New Roman"/>
                <a:sym typeface="Times New Roman"/>
              </a:rPr>
              <a:t>To determine how ESG metrics influence company profitability and investor perception across industries and regions</a:t>
            </a:r>
            <a:endParaRPr sz="2200" dirty="0">
              <a:solidFill>
                <a:schemeClr val="dk1"/>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093BCBFB-CED4-2574-18E3-E2BE0ABE2202}"/>
              </a:ext>
            </a:extLst>
          </p:cNvPr>
          <p:cNvSpPr txBox="1"/>
          <p:nvPr/>
        </p:nvSpPr>
        <p:spPr>
          <a:xfrm>
            <a:off x="157162" y="245347"/>
            <a:ext cx="4881562"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bg1"/>
                </a:solidFill>
                <a:latin typeface="Trebuchet MS"/>
                <a:ea typeface="Trebuchet MS"/>
                <a:cs typeface="Trebuchet MS"/>
                <a:sym typeface="Trebuchet MS"/>
              </a:rPr>
              <a:t>GOALS AND OBJECTIVES</a:t>
            </a:r>
            <a:endParaRPr lang="en-US" sz="3200"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7"/>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181" name="Google Shape;181;p7"/>
          <p:cNvSpPr txBox="1"/>
          <p:nvPr/>
        </p:nvSpPr>
        <p:spPr>
          <a:xfrm>
            <a:off x="689960" y="1691974"/>
            <a:ext cx="9214714" cy="34740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800"/>
              </a:spcBef>
              <a:spcAft>
                <a:spcPts val="0"/>
              </a:spcAft>
              <a:buClr>
                <a:schemeClr val="dk1"/>
              </a:buClr>
              <a:buSzPts val="1800"/>
              <a:buFont typeface="Times New Roman"/>
              <a:buNone/>
            </a:pPr>
            <a:r>
              <a:rPr lang="en-US" sz="2400" dirty="0">
                <a:solidFill>
                  <a:schemeClr val="dk1"/>
                </a:solidFill>
                <a:latin typeface="Times New Roman"/>
                <a:ea typeface="Times New Roman"/>
                <a:cs typeface="Times New Roman"/>
                <a:sym typeface="Times New Roman"/>
              </a:rPr>
              <a:t>This analysis will focus on answering the following 5 key questions:</a:t>
            </a:r>
            <a:endParaRPr sz="2400" dirty="0">
              <a:solidFill>
                <a:schemeClr val="dk1"/>
              </a:solidFill>
              <a:latin typeface="Calibri"/>
              <a:ea typeface="Calibri"/>
              <a:cs typeface="Calibri"/>
              <a:sym typeface="Calibri"/>
            </a:endParaRPr>
          </a:p>
          <a:p>
            <a:pPr marR="0" lvl="0" algn="l" rtl="0">
              <a:lnSpc>
                <a:spcPct val="107000"/>
              </a:lnSpc>
              <a:spcBef>
                <a:spcPts val="800"/>
              </a:spcBef>
              <a:spcAft>
                <a:spcPts val="0"/>
              </a:spcAft>
              <a:buClr>
                <a:schemeClr val="dk1"/>
              </a:buClr>
              <a:buSzPts val="1800"/>
            </a:pPr>
            <a:r>
              <a:rPr lang="en-US" sz="2400" dirty="0">
                <a:solidFill>
                  <a:schemeClr val="dk1"/>
                </a:solidFill>
                <a:latin typeface="Times New Roman"/>
                <a:ea typeface="Times New Roman"/>
                <a:cs typeface="Times New Roman"/>
                <a:sym typeface="Times New Roman"/>
              </a:rPr>
              <a:t>1. What is the correlation between overall ESG scores and financial metrics like profit margin and market cap?  </a:t>
            </a:r>
          </a:p>
          <a:p>
            <a:pPr marR="0" lvl="0" algn="l" rtl="0">
              <a:lnSpc>
                <a:spcPct val="107000"/>
              </a:lnSpc>
              <a:spcBef>
                <a:spcPts val="800"/>
              </a:spcBef>
              <a:spcAft>
                <a:spcPts val="0"/>
              </a:spcAft>
              <a:buClr>
                <a:schemeClr val="dk1"/>
              </a:buClr>
              <a:buSzPts val="1800"/>
            </a:pPr>
            <a:r>
              <a:rPr lang="en-US" sz="2400" dirty="0">
                <a:solidFill>
                  <a:schemeClr val="dk1"/>
                </a:solidFill>
                <a:latin typeface="Times New Roman"/>
                <a:ea typeface="Times New Roman"/>
                <a:cs typeface="Times New Roman"/>
                <a:sym typeface="Times New Roman"/>
              </a:rPr>
              <a:t>2. Which ESG factor most strongly influences industry valuation?  </a:t>
            </a:r>
          </a:p>
          <a:p>
            <a:pPr marR="0" lvl="0" algn="l" rtl="0">
              <a:lnSpc>
                <a:spcPct val="107000"/>
              </a:lnSpc>
              <a:spcBef>
                <a:spcPts val="800"/>
              </a:spcBef>
              <a:spcAft>
                <a:spcPts val="0"/>
              </a:spcAft>
              <a:buClr>
                <a:schemeClr val="dk1"/>
              </a:buClr>
              <a:buSzPts val="1800"/>
            </a:pPr>
            <a:r>
              <a:rPr lang="en-US" sz="2400" dirty="0">
                <a:solidFill>
                  <a:schemeClr val="dk1"/>
                </a:solidFill>
                <a:latin typeface="Times New Roman"/>
                <a:ea typeface="Times New Roman"/>
                <a:cs typeface="Times New Roman"/>
                <a:sym typeface="Times New Roman"/>
              </a:rPr>
              <a:t>3. What are the Top 3 Valuable Industries?</a:t>
            </a:r>
          </a:p>
          <a:p>
            <a:pPr marR="0" lvl="0" algn="l" rtl="0">
              <a:lnSpc>
                <a:spcPct val="107000"/>
              </a:lnSpc>
              <a:spcBef>
                <a:spcPts val="800"/>
              </a:spcBef>
              <a:spcAft>
                <a:spcPts val="0"/>
              </a:spcAft>
              <a:buClr>
                <a:schemeClr val="dk1"/>
              </a:buClr>
              <a:buSzPts val="1800"/>
            </a:pPr>
            <a:r>
              <a:rPr lang="en-US" sz="2400" dirty="0">
                <a:solidFill>
                  <a:schemeClr val="dk1"/>
                </a:solidFill>
                <a:latin typeface="Times New Roman"/>
                <a:ea typeface="Times New Roman"/>
                <a:cs typeface="Times New Roman"/>
                <a:sym typeface="Times New Roman"/>
              </a:rPr>
              <a:t>4. Which industries combine high ESG and strong performance?  </a:t>
            </a:r>
          </a:p>
          <a:p>
            <a:pPr marR="0" lvl="0" algn="l" rtl="0">
              <a:lnSpc>
                <a:spcPct val="107000"/>
              </a:lnSpc>
              <a:spcBef>
                <a:spcPts val="800"/>
              </a:spcBef>
              <a:spcAft>
                <a:spcPts val="0"/>
              </a:spcAft>
              <a:buClr>
                <a:schemeClr val="dk1"/>
              </a:buClr>
              <a:buSzPts val="1800"/>
            </a:pPr>
            <a:r>
              <a:rPr lang="en-US" sz="2400" dirty="0">
                <a:solidFill>
                  <a:schemeClr val="dk1"/>
                </a:solidFill>
                <a:latin typeface="Times New Roman"/>
                <a:ea typeface="Times New Roman"/>
                <a:cs typeface="Times New Roman"/>
                <a:sym typeface="Times New Roman"/>
              </a:rPr>
              <a:t>5. Which regions show the best blend of ESG and financial strength?</a:t>
            </a:r>
          </a:p>
        </p:txBody>
      </p:sp>
      <p:sp>
        <p:nvSpPr>
          <p:cNvPr id="2" name="TextBox 1">
            <a:extLst>
              <a:ext uri="{FF2B5EF4-FFF2-40B4-BE49-F238E27FC236}">
                <a16:creationId xmlns:a16="http://schemas.microsoft.com/office/drawing/2014/main" id="{8F17AD13-F9D6-F2BC-48FB-83406747D3F5}"/>
              </a:ext>
            </a:extLst>
          </p:cNvPr>
          <p:cNvSpPr txBox="1"/>
          <p:nvPr/>
        </p:nvSpPr>
        <p:spPr>
          <a:xfrm>
            <a:off x="115023" y="155078"/>
            <a:ext cx="4214090"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BUSINESS QUESTIONS </a:t>
            </a:r>
            <a:endParaRPr lang="en-US" sz="32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graphicFrame>
        <p:nvGraphicFramePr>
          <p:cNvPr id="186" name="Google Shape;186;p8"/>
          <p:cNvGraphicFramePr/>
          <p:nvPr>
            <p:extLst>
              <p:ext uri="{D42A27DB-BD31-4B8C-83A1-F6EECF244321}">
                <p14:modId xmlns:p14="http://schemas.microsoft.com/office/powerpoint/2010/main" val="992702359"/>
              </p:ext>
            </p:extLst>
          </p:nvPr>
        </p:nvGraphicFramePr>
        <p:xfrm>
          <a:off x="1667142" y="646263"/>
          <a:ext cx="7376975" cy="3619330"/>
        </p:xfrm>
        <a:graphic>
          <a:graphicData uri="http://schemas.openxmlformats.org/drawingml/2006/table">
            <a:tbl>
              <a:tblPr firstRow="1" bandRow="1">
                <a:noFill/>
                <a:tableStyleId>{9DDD2387-8222-440D-BF58-4D511A6D7E4D}</a:tableStyleId>
              </a:tblPr>
              <a:tblGrid>
                <a:gridCol w="2505500">
                  <a:extLst>
                    <a:ext uri="{9D8B030D-6E8A-4147-A177-3AD203B41FA5}">
                      <a16:colId xmlns:a16="http://schemas.microsoft.com/office/drawing/2014/main" val="20000"/>
                    </a:ext>
                  </a:extLst>
                </a:gridCol>
                <a:gridCol w="2505500">
                  <a:extLst>
                    <a:ext uri="{9D8B030D-6E8A-4147-A177-3AD203B41FA5}">
                      <a16:colId xmlns:a16="http://schemas.microsoft.com/office/drawing/2014/main" val="20001"/>
                    </a:ext>
                  </a:extLst>
                </a:gridCol>
                <a:gridCol w="2365975">
                  <a:extLst>
                    <a:ext uri="{9D8B030D-6E8A-4147-A177-3AD203B41FA5}">
                      <a16:colId xmlns:a16="http://schemas.microsoft.com/office/drawing/2014/main" val="20002"/>
                    </a:ext>
                  </a:extLst>
                </a:gridCol>
              </a:tblGrid>
              <a:tr h="404713">
                <a:tc>
                  <a:txBody>
                    <a:bodyPr/>
                    <a:lstStyle/>
                    <a:p>
                      <a:pPr marL="0" marR="0" lvl="0" indent="0" algn="ctr" rtl="0">
                        <a:spcBef>
                          <a:spcPts val="0"/>
                        </a:spcBef>
                        <a:spcAft>
                          <a:spcPts val="0"/>
                        </a:spcAft>
                        <a:buNone/>
                      </a:pPr>
                      <a:r>
                        <a:rPr lang="en-US" sz="1500" u="none" strike="noStrike" cap="none" dirty="0"/>
                        <a:t> </a:t>
                      </a:r>
                      <a:endParaRPr sz="1500" b="0" i="1" u="none" strike="noStrike" cap="none" dirty="0">
                        <a:solidFill>
                          <a:srgbClr val="000000"/>
                        </a:solidFill>
                        <a:latin typeface="Calibri"/>
                        <a:ea typeface="Calibri"/>
                        <a:cs typeface="Calibri"/>
                        <a:sym typeface="Calibri"/>
                      </a:endParaRPr>
                    </a:p>
                  </a:txBody>
                  <a:tcPr marL="13075" marR="13075" marT="13075" marB="0" anchor="b"/>
                </a:tc>
                <a:tc>
                  <a:txBody>
                    <a:bodyPr/>
                    <a:lstStyle/>
                    <a:p>
                      <a:pPr marL="0" marR="0" lvl="0" indent="0" algn="ctr" rtl="0">
                        <a:spcBef>
                          <a:spcPts val="0"/>
                        </a:spcBef>
                        <a:spcAft>
                          <a:spcPts val="0"/>
                        </a:spcAft>
                        <a:buNone/>
                      </a:pPr>
                      <a:r>
                        <a:rPr lang="en-US" sz="1600" u="none" strike="noStrike" cap="none" dirty="0"/>
                        <a:t>Average of </a:t>
                      </a:r>
                      <a:r>
                        <a:rPr lang="en-US" sz="1600" u="none" strike="noStrike" cap="none" dirty="0" err="1"/>
                        <a:t>ESG_Overall</a:t>
                      </a:r>
                      <a:r>
                        <a:rPr lang="en-US" sz="1600" u="none" strike="noStrike" cap="none" dirty="0"/>
                        <a:t> (0-100 Scale)</a:t>
                      </a:r>
                      <a:endParaRPr sz="1600" b="0" i="1" u="none" strike="noStrike" cap="none" dirty="0">
                        <a:solidFill>
                          <a:srgbClr val="000000"/>
                        </a:solidFill>
                        <a:latin typeface="Calibri"/>
                        <a:ea typeface="Calibri"/>
                        <a:cs typeface="Calibri"/>
                        <a:sym typeface="Calibri"/>
                      </a:endParaRPr>
                    </a:p>
                  </a:txBody>
                  <a:tcPr marL="13075" marR="13075" marT="13075" marB="0" anchor="b"/>
                </a:tc>
                <a:tc>
                  <a:txBody>
                    <a:bodyPr/>
                    <a:lstStyle/>
                    <a:p>
                      <a:pPr marL="0" marR="0" lvl="0" indent="0" algn="ctr" rtl="0">
                        <a:spcBef>
                          <a:spcPts val="0"/>
                        </a:spcBef>
                        <a:spcAft>
                          <a:spcPts val="0"/>
                        </a:spcAft>
                        <a:buNone/>
                      </a:pPr>
                      <a:r>
                        <a:rPr lang="en-US" sz="1600" u="none" strike="noStrike" cap="none" dirty="0"/>
                        <a:t>Average of Profit Margin</a:t>
                      </a:r>
                      <a:endParaRPr sz="1600" b="0" i="1" u="none" strike="noStrike" cap="none" dirty="0">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0"/>
                  </a:ext>
                </a:extLst>
              </a:tr>
              <a:tr h="523775">
                <a:tc>
                  <a:txBody>
                    <a:bodyPr/>
                    <a:lstStyle/>
                    <a:p>
                      <a:pPr marL="0" marR="0" lvl="0" indent="0" algn="l" rtl="0">
                        <a:spcBef>
                          <a:spcPts val="0"/>
                        </a:spcBef>
                        <a:spcAft>
                          <a:spcPts val="0"/>
                        </a:spcAft>
                        <a:buNone/>
                      </a:pPr>
                      <a:r>
                        <a:rPr lang="en-US" sz="1500" u="none" strike="noStrike" cap="none" dirty="0"/>
                        <a:t>Average of </a:t>
                      </a:r>
                      <a:r>
                        <a:rPr lang="en-US" sz="1500" u="none" strike="noStrike" cap="none" dirty="0" err="1"/>
                        <a:t>ESG_Overall</a:t>
                      </a:r>
                      <a:r>
                        <a:rPr lang="en-US" sz="1500" u="none" strike="noStrike" cap="none" dirty="0"/>
                        <a:t> (0-100 Scale)</a:t>
                      </a:r>
                      <a:endParaRPr sz="1500" b="0" i="0" u="none" strike="noStrike" cap="none" dirty="0">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a:t>1</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1"/>
                  </a:ext>
                </a:extLst>
              </a:tr>
              <a:tr h="293550">
                <a:tc>
                  <a:txBody>
                    <a:bodyPr/>
                    <a:lstStyle/>
                    <a:p>
                      <a:pPr marL="0" marR="0" lvl="0" indent="0" algn="l" rtl="0">
                        <a:spcBef>
                          <a:spcPts val="0"/>
                        </a:spcBef>
                        <a:spcAft>
                          <a:spcPts val="0"/>
                        </a:spcAft>
                        <a:buNone/>
                      </a:pPr>
                      <a:r>
                        <a:rPr lang="en-US" sz="1500" u="none" strike="noStrike" cap="none"/>
                        <a:t>Average of ProfitMargin</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a:t>0.761497798</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a:t>1</a:t>
                      </a: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2"/>
                  </a:ext>
                </a:extLst>
              </a:tr>
              <a:tr h="320050">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3"/>
                  </a:ext>
                </a:extLst>
              </a:tr>
              <a:tr h="320050">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4"/>
                  </a:ext>
                </a:extLst>
              </a:tr>
              <a:tr h="320050">
                <a:tc>
                  <a:txBody>
                    <a:bodyPr/>
                    <a:lstStyle/>
                    <a:p>
                      <a:pPr marL="0" marR="0" lvl="0" indent="0" algn="l" rtl="0">
                        <a:spcBef>
                          <a:spcPts val="0"/>
                        </a:spcBef>
                        <a:spcAft>
                          <a:spcPts val="0"/>
                        </a:spcAft>
                        <a:buNone/>
                      </a:pPr>
                      <a:endParaRPr sz="1500" b="0" i="0" u="none" strike="noStrike" cap="none" dirty="0">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5"/>
                  </a:ext>
                </a:extLst>
              </a:tr>
              <a:tr h="523775">
                <a:tc>
                  <a:txBody>
                    <a:bodyPr/>
                    <a:lstStyle/>
                    <a:p>
                      <a:pPr marL="0" marR="0" lvl="0" indent="0" algn="ctr" rtl="0">
                        <a:spcBef>
                          <a:spcPts val="0"/>
                        </a:spcBef>
                        <a:spcAft>
                          <a:spcPts val="0"/>
                        </a:spcAft>
                        <a:buNone/>
                      </a:pPr>
                      <a:r>
                        <a:rPr lang="en-US" sz="1500" u="none" strike="noStrike" cap="none"/>
                        <a:t> </a:t>
                      </a:r>
                      <a:endParaRPr sz="1500" b="0" i="1"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ctr" rtl="0">
                        <a:spcBef>
                          <a:spcPts val="0"/>
                        </a:spcBef>
                        <a:spcAft>
                          <a:spcPts val="0"/>
                        </a:spcAft>
                        <a:buNone/>
                      </a:pPr>
                      <a:r>
                        <a:rPr lang="en-US" sz="1500" u="none" strike="noStrike" cap="none"/>
                        <a:t>Average of ESG_Overall (0-100 Scale)</a:t>
                      </a:r>
                      <a:endParaRPr sz="1500" b="0" i="1"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ctr" rtl="0">
                        <a:spcBef>
                          <a:spcPts val="0"/>
                        </a:spcBef>
                        <a:spcAft>
                          <a:spcPts val="0"/>
                        </a:spcAft>
                        <a:buNone/>
                      </a:pPr>
                      <a:r>
                        <a:rPr lang="en-US" sz="1500" u="none" strike="noStrike" cap="none"/>
                        <a:t>Average of MarketCap ($)</a:t>
                      </a:r>
                      <a:endParaRPr sz="1500" b="0" i="1"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6"/>
                  </a:ext>
                </a:extLst>
              </a:tr>
              <a:tr h="523775">
                <a:tc>
                  <a:txBody>
                    <a:bodyPr/>
                    <a:lstStyle/>
                    <a:p>
                      <a:pPr marL="0" marR="0" lvl="0" indent="0" algn="l" rtl="0">
                        <a:spcBef>
                          <a:spcPts val="0"/>
                        </a:spcBef>
                        <a:spcAft>
                          <a:spcPts val="0"/>
                        </a:spcAft>
                        <a:buNone/>
                      </a:pPr>
                      <a:r>
                        <a:rPr lang="en-US" sz="1500" u="none" strike="noStrike" cap="none"/>
                        <a:t>Average of ESG_Overall (0-100 Scale)</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a:t>1</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l" rtl="0">
                        <a:spcBef>
                          <a:spcPts val="0"/>
                        </a:spcBef>
                        <a:spcAft>
                          <a:spcPts val="0"/>
                        </a:spcAft>
                        <a:buNone/>
                      </a:pPr>
                      <a:endParaRPr sz="1500" b="0" i="0" u="none" strike="noStrike" cap="none">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7"/>
                  </a:ext>
                </a:extLst>
              </a:tr>
              <a:tr h="293550">
                <a:tc>
                  <a:txBody>
                    <a:bodyPr/>
                    <a:lstStyle/>
                    <a:p>
                      <a:pPr marL="0" marR="0" lvl="0" indent="0" algn="l" rtl="0">
                        <a:spcBef>
                          <a:spcPts val="0"/>
                        </a:spcBef>
                        <a:spcAft>
                          <a:spcPts val="0"/>
                        </a:spcAft>
                        <a:buNone/>
                      </a:pPr>
                      <a:r>
                        <a:rPr lang="en-US" sz="1500" u="none" strike="noStrike" cap="none"/>
                        <a:t>Average of MarketCap ($)</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a:t>0.552759589</a:t>
                      </a:r>
                      <a:endParaRPr sz="1500" b="0" i="0" u="none" strike="noStrike" cap="none">
                        <a:solidFill>
                          <a:srgbClr val="000000"/>
                        </a:solidFill>
                        <a:latin typeface="Calibri"/>
                        <a:ea typeface="Calibri"/>
                        <a:cs typeface="Calibri"/>
                        <a:sym typeface="Calibri"/>
                      </a:endParaRPr>
                    </a:p>
                  </a:txBody>
                  <a:tcPr marL="13075" marR="13075" marT="13075" marB="0" anchor="b"/>
                </a:tc>
                <a:tc>
                  <a:txBody>
                    <a:bodyPr/>
                    <a:lstStyle/>
                    <a:p>
                      <a:pPr marL="0" marR="0" lvl="0" indent="0" algn="r" rtl="0">
                        <a:spcBef>
                          <a:spcPts val="0"/>
                        </a:spcBef>
                        <a:spcAft>
                          <a:spcPts val="0"/>
                        </a:spcAft>
                        <a:buNone/>
                      </a:pPr>
                      <a:r>
                        <a:rPr lang="en-US" sz="1500" u="none" strike="noStrike" cap="none" dirty="0"/>
                        <a:t>1</a:t>
                      </a:r>
                      <a:endParaRPr sz="1500" b="0" i="0" u="none" strike="noStrike" cap="none" dirty="0">
                        <a:solidFill>
                          <a:srgbClr val="000000"/>
                        </a:solidFill>
                        <a:latin typeface="Calibri"/>
                        <a:ea typeface="Calibri"/>
                        <a:cs typeface="Calibri"/>
                        <a:sym typeface="Calibri"/>
                      </a:endParaRPr>
                    </a:p>
                  </a:txBody>
                  <a:tcPr marL="13075" marR="13075" marT="13075" marB="0" anchor="b"/>
                </a:tc>
                <a:extLst>
                  <a:ext uri="{0D108BD9-81ED-4DB2-BD59-A6C34878D82A}">
                    <a16:rowId xmlns:a16="http://schemas.microsoft.com/office/drawing/2014/main" val="10008"/>
                  </a:ext>
                </a:extLst>
              </a:tr>
            </a:tbl>
          </a:graphicData>
        </a:graphic>
      </p:graphicFrame>
      <p:sp>
        <p:nvSpPr>
          <p:cNvPr id="187" name="Google Shape;187;p8"/>
          <p:cNvSpPr txBox="1"/>
          <p:nvPr/>
        </p:nvSpPr>
        <p:spPr>
          <a:xfrm>
            <a:off x="2386011" y="4395502"/>
            <a:ext cx="6843843" cy="22467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Trebuchet MS"/>
                <a:ea typeface="Trebuchet MS"/>
                <a:cs typeface="Trebuchet MS"/>
                <a:sym typeface="Trebuchet MS"/>
              </a:rPr>
              <a:t>ESG Overall vs. Profit Margin &amp; Market Cap</a:t>
            </a:r>
            <a:endParaRPr sz="1600" dirty="0"/>
          </a:p>
          <a:p>
            <a:pPr marL="0" marR="0" lvl="0" indent="0" algn="l" rtl="0">
              <a:spcBef>
                <a:spcPts val="0"/>
              </a:spcBef>
              <a:spcAft>
                <a:spcPts val="0"/>
              </a:spcAft>
              <a:buNone/>
            </a:pPr>
            <a:r>
              <a:rPr lang="en-US" sz="2000" dirty="0">
                <a:solidFill>
                  <a:schemeClr val="dk1"/>
                </a:solidFill>
                <a:latin typeface="Trebuchet MS"/>
                <a:ea typeface="Trebuchet MS"/>
                <a:cs typeface="Trebuchet MS"/>
                <a:sym typeface="Trebuchet MS"/>
              </a:rPr>
              <a:t>•	Profit Margin: 0.76 (Strong positive relationship)</a:t>
            </a:r>
            <a:endParaRPr sz="1600" dirty="0"/>
          </a:p>
          <a:p>
            <a:pPr marL="0" marR="0" lvl="0" indent="0" algn="l" rtl="0">
              <a:spcBef>
                <a:spcPts val="0"/>
              </a:spcBef>
              <a:spcAft>
                <a:spcPts val="0"/>
              </a:spcAft>
              <a:buNone/>
            </a:pPr>
            <a:r>
              <a:rPr lang="en-US" sz="2000" dirty="0">
                <a:solidFill>
                  <a:schemeClr val="dk1"/>
                </a:solidFill>
                <a:latin typeface="Trebuchet MS"/>
                <a:ea typeface="Trebuchet MS"/>
                <a:cs typeface="Trebuchet MS"/>
                <a:sym typeface="Trebuchet MS"/>
              </a:rPr>
              <a:t>→ Companies with higher overall ESG scores tend to have higher profit margins.</a:t>
            </a:r>
            <a:endParaRPr sz="1600" dirty="0"/>
          </a:p>
          <a:p>
            <a:pPr marL="0" marR="0" lvl="0" indent="0" algn="l" rtl="0">
              <a:spcBef>
                <a:spcPts val="0"/>
              </a:spcBef>
              <a:spcAft>
                <a:spcPts val="0"/>
              </a:spcAft>
              <a:buNone/>
            </a:pPr>
            <a:r>
              <a:rPr lang="en-US" sz="2000" dirty="0">
                <a:solidFill>
                  <a:schemeClr val="dk1"/>
                </a:solidFill>
                <a:latin typeface="Trebuchet MS"/>
                <a:ea typeface="Trebuchet MS"/>
                <a:cs typeface="Trebuchet MS"/>
                <a:sym typeface="Trebuchet MS"/>
              </a:rPr>
              <a:t>•	Market Cap: 0.55 (Moderate positive relationship)</a:t>
            </a:r>
            <a:endParaRPr sz="1600" dirty="0"/>
          </a:p>
          <a:p>
            <a:pPr marL="0" marR="0" lvl="0" indent="0" algn="l" rtl="0">
              <a:spcBef>
                <a:spcPts val="0"/>
              </a:spcBef>
              <a:spcAft>
                <a:spcPts val="0"/>
              </a:spcAft>
              <a:buNone/>
            </a:pPr>
            <a:r>
              <a:rPr lang="en-US" sz="2000" dirty="0">
                <a:solidFill>
                  <a:schemeClr val="dk1"/>
                </a:solidFill>
                <a:latin typeface="Trebuchet MS"/>
                <a:ea typeface="Trebuchet MS"/>
                <a:cs typeface="Trebuchet MS"/>
                <a:sym typeface="Trebuchet MS"/>
              </a:rPr>
              <a:t>→ Companies with higher overall ESG scores tend to be larger in market value.</a:t>
            </a:r>
            <a:endParaRPr sz="1600" dirty="0"/>
          </a:p>
        </p:txBody>
      </p:sp>
      <p:sp>
        <p:nvSpPr>
          <p:cNvPr id="188" name="Google Shape;188;p8"/>
          <p:cNvSpPr/>
          <p:nvPr/>
        </p:nvSpPr>
        <p:spPr>
          <a:xfrm>
            <a:off x="0" y="-104171"/>
            <a:ext cx="12191999" cy="713772"/>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chemeClr val="lt1"/>
              </a:solidFill>
              <a:latin typeface="Trebuchet MS"/>
              <a:ea typeface="Trebuchet MS"/>
              <a:cs typeface="Trebuchet MS"/>
              <a:sym typeface="Trebuchet MS"/>
            </a:endParaRPr>
          </a:p>
        </p:txBody>
      </p:sp>
      <p:sp>
        <p:nvSpPr>
          <p:cNvPr id="4" name="TextBox 3">
            <a:extLst>
              <a:ext uri="{FF2B5EF4-FFF2-40B4-BE49-F238E27FC236}">
                <a16:creationId xmlns:a16="http://schemas.microsoft.com/office/drawing/2014/main" id="{32413967-4044-613A-C222-A22919716B02}"/>
              </a:ext>
            </a:extLst>
          </p:cNvPr>
          <p:cNvSpPr txBox="1"/>
          <p:nvPr/>
        </p:nvSpPr>
        <p:spPr>
          <a:xfrm>
            <a:off x="-271462" y="-135563"/>
            <a:ext cx="4943475"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Correlation Analysis</a:t>
            </a:r>
            <a:endParaRPr lang="en-US" sz="3200" dirty="0">
              <a:solidFill>
                <a:schemeClr val="lt1"/>
              </a:solidFill>
              <a:latin typeface="Trebuchet MS"/>
              <a:ea typeface="Trebuchet MS"/>
              <a:cs typeface="Trebuchet MS"/>
              <a:sym typeface="Trebuchet MS"/>
            </a:endParaRPr>
          </a:p>
        </p:txBody>
      </p:sp>
      <p:sp>
        <p:nvSpPr>
          <p:cNvPr id="7" name="TextBox 6">
            <a:extLst>
              <a:ext uri="{FF2B5EF4-FFF2-40B4-BE49-F238E27FC236}">
                <a16:creationId xmlns:a16="http://schemas.microsoft.com/office/drawing/2014/main" id="{02A6735B-7664-D42B-9425-551AD52569FD}"/>
              </a:ext>
            </a:extLst>
          </p:cNvPr>
          <p:cNvSpPr txBox="1"/>
          <p:nvPr/>
        </p:nvSpPr>
        <p:spPr>
          <a:xfrm>
            <a:off x="185736" y="4395502"/>
            <a:ext cx="2457452" cy="369332"/>
          </a:xfrm>
          <a:prstGeom prst="rect">
            <a:avLst/>
          </a:prstGeom>
          <a:noFill/>
        </p:spPr>
        <p:txBody>
          <a:bodyPr wrap="square" rtlCol="0">
            <a:spAutoFit/>
          </a:bodyPr>
          <a:lstStyle/>
          <a:p>
            <a:r>
              <a:rPr lang="en-US" sz="1800" b="1" dirty="0"/>
              <a:t>INTERPRETATION:</a:t>
            </a:r>
            <a:endParaRPr lang="en-GB" sz="1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graphicFrame>
        <p:nvGraphicFramePr>
          <p:cNvPr id="193" name="Google Shape;193;p9"/>
          <p:cNvGraphicFramePr/>
          <p:nvPr>
            <p:extLst>
              <p:ext uri="{D42A27DB-BD31-4B8C-83A1-F6EECF244321}">
                <p14:modId xmlns:p14="http://schemas.microsoft.com/office/powerpoint/2010/main" val="3808861979"/>
              </p:ext>
            </p:extLst>
          </p:nvPr>
        </p:nvGraphicFramePr>
        <p:xfrm>
          <a:off x="1600201" y="640992"/>
          <a:ext cx="7783414" cy="4255530"/>
        </p:xfrm>
        <a:graphic>
          <a:graphicData uri="http://schemas.openxmlformats.org/drawingml/2006/table">
            <a:tbl>
              <a:tblPr firstRow="1" bandRow="1">
                <a:noFill/>
                <a:tableStyleId>{9DDD2387-8222-440D-BF58-4D511A6D7E4D}</a:tableStyleId>
              </a:tblPr>
              <a:tblGrid>
                <a:gridCol w="2761756">
                  <a:extLst>
                    <a:ext uri="{9D8B030D-6E8A-4147-A177-3AD203B41FA5}">
                      <a16:colId xmlns:a16="http://schemas.microsoft.com/office/drawing/2014/main" val="20000"/>
                    </a:ext>
                  </a:extLst>
                </a:gridCol>
                <a:gridCol w="2761756">
                  <a:extLst>
                    <a:ext uri="{9D8B030D-6E8A-4147-A177-3AD203B41FA5}">
                      <a16:colId xmlns:a16="http://schemas.microsoft.com/office/drawing/2014/main" val="20001"/>
                    </a:ext>
                  </a:extLst>
                </a:gridCol>
                <a:gridCol w="2259902">
                  <a:extLst>
                    <a:ext uri="{9D8B030D-6E8A-4147-A177-3AD203B41FA5}">
                      <a16:colId xmlns:a16="http://schemas.microsoft.com/office/drawing/2014/main" val="20002"/>
                    </a:ext>
                  </a:extLst>
                </a:gridCol>
              </a:tblGrid>
              <a:tr h="655681">
                <a:tc>
                  <a:txBody>
                    <a:bodyPr/>
                    <a:lstStyle/>
                    <a:p>
                      <a:pPr marL="0" marR="0" lvl="0" indent="0" algn="ctr" rtl="0">
                        <a:spcBef>
                          <a:spcPts val="0"/>
                        </a:spcBef>
                        <a:spcAft>
                          <a:spcPts val="0"/>
                        </a:spcAft>
                        <a:buNone/>
                      </a:pPr>
                      <a:r>
                        <a:rPr lang="en-US" sz="1600" u="none" strike="noStrike" cap="none" dirty="0"/>
                        <a:t> </a:t>
                      </a:r>
                      <a:endParaRPr sz="1600" b="0" i="1"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ctr" rtl="0">
                        <a:spcBef>
                          <a:spcPts val="0"/>
                        </a:spcBef>
                        <a:spcAft>
                          <a:spcPts val="0"/>
                        </a:spcAft>
                        <a:buNone/>
                      </a:pPr>
                      <a:r>
                        <a:rPr lang="en-US" sz="1600" u="none" strike="noStrike" cap="none" dirty="0"/>
                        <a:t>Average of </a:t>
                      </a:r>
                      <a:r>
                        <a:rPr lang="en-US" sz="1600" u="none" strike="noStrike" cap="none" dirty="0" err="1"/>
                        <a:t>ESG_Environmental</a:t>
                      </a:r>
                      <a:r>
                        <a:rPr lang="en-US" sz="1600" u="none" strike="noStrike" cap="none" dirty="0"/>
                        <a:t> (0-100 Scale)</a:t>
                      </a:r>
                      <a:endParaRPr sz="1600" b="0" i="1"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ctr" rtl="0">
                        <a:spcBef>
                          <a:spcPts val="0"/>
                        </a:spcBef>
                        <a:spcAft>
                          <a:spcPts val="0"/>
                        </a:spcAft>
                        <a:buNone/>
                      </a:pPr>
                      <a:r>
                        <a:rPr lang="en-US" sz="1600" u="none" strike="noStrike" cap="none" dirty="0"/>
                        <a:t>Average of Profit Margin</a:t>
                      </a:r>
                      <a:endParaRPr sz="1600" b="0" i="1" u="none" strike="noStrike" cap="none" dirty="0">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0"/>
                  </a:ext>
                </a:extLst>
              </a:tr>
              <a:tr h="655681">
                <a:tc>
                  <a:txBody>
                    <a:bodyPr/>
                    <a:lstStyle/>
                    <a:p>
                      <a:pPr marL="0" marR="0" lvl="0" indent="0" algn="l" rtl="0">
                        <a:spcBef>
                          <a:spcPts val="0"/>
                        </a:spcBef>
                        <a:spcAft>
                          <a:spcPts val="0"/>
                        </a:spcAft>
                        <a:buNone/>
                      </a:pPr>
                      <a:r>
                        <a:rPr lang="en-US" sz="1600" u="none" strike="noStrike" cap="none"/>
                        <a:t>Average of ESG_Environmental (0-100 Scale)</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1"/>
                  </a:ext>
                </a:extLst>
              </a:tr>
              <a:tr h="231935">
                <a:tc>
                  <a:txBody>
                    <a:bodyPr/>
                    <a:lstStyle/>
                    <a:p>
                      <a:pPr marL="0" marR="0" lvl="0" indent="0" algn="l" rtl="0">
                        <a:spcBef>
                          <a:spcPts val="0"/>
                        </a:spcBef>
                        <a:spcAft>
                          <a:spcPts val="0"/>
                        </a:spcAft>
                        <a:buNone/>
                      </a:pPr>
                      <a:r>
                        <a:rPr lang="en-US" sz="1600" u="none" strike="noStrike" cap="none"/>
                        <a:t>Average of ProfitMargin</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dirty="0"/>
                        <a:t>0.772343019</a:t>
                      </a:r>
                      <a:endParaRPr sz="1600" b="0" i="0"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2"/>
                  </a:ext>
                </a:extLst>
              </a:tr>
              <a:tr h="252897">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3"/>
                  </a:ext>
                </a:extLst>
              </a:tr>
              <a:tr h="252897">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4"/>
                  </a:ext>
                </a:extLst>
              </a:tr>
              <a:tr h="252897">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5"/>
                  </a:ext>
                </a:extLst>
              </a:tr>
              <a:tr h="655681">
                <a:tc>
                  <a:txBody>
                    <a:bodyPr/>
                    <a:lstStyle/>
                    <a:p>
                      <a:pPr marL="0" marR="0" lvl="0" indent="0" algn="ctr" rtl="0">
                        <a:spcBef>
                          <a:spcPts val="0"/>
                        </a:spcBef>
                        <a:spcAft>
                          <a:spcPts val="0"/>
                        </a:spcAft>
                        <a:buNone/>
                      </a:pPr>
                      <a:r>
                        <a:rPr lang="en-US" sz="1600" u="none" strike="noStrike" cap="none"/>
                        <a:t> </a:t>
                      </a:r>
                      <a:endParaRPr sz="1600" b="0" i="1"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ctr" rtl="0">
                        <a:spcBef>
                          <a:spcPts val="0"/>
                        </a:spcBef>
                        <a:spcAft>
                          <a:spcPts val="0"/>
                        </a:spcAft>
                        <a:buNone/>
                      </a:pPr>
                      <a:r>
                        <a:rPr lang="en-US" sz="1600" u="none" strike="noStrike" cap="none" dirty="0"/>
                        <a:t>Average of </a:t>
                      </a:r>
                      <a:r>
                        <a:rPr lang="en-US" sz="1600" u="none" strike="noStrike" cap="none" dirty="0" err="1"/>
                        <a:t>ESG_Environmental</a:t>
                      </a:r>
                      <a:r>
                        <a:rPr lang="en-US" sz="1600" u="none" strike="noStrike" cap="none" dirty="0"/>
                        <a:t> (0-100 Scale)</a:t>
                      </a:r>
                      <a:endParaRPr sz="1600" b="0" i="1"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ctr" rtl="0">
                        <a:spcBef>
                          <a:spcPts val="0"/>
                        </a:spcBef>
                        <a:spcAft>
                          <a:spcPts val="0"/>
                        </a:spcAft>
                        <a:buNone/>
                      </a:pPr>
                      <a:r>
                        <a:rPr lang="en-US" sz="1600" u="none" strike="noStrike" cap="none"/>
                        <a:t>Average of MarketCap ($)</a:t>
                      </a:r>
                      <a:endParaRPr sz="1600" b="0" i="1"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6"/>
                  </a:ext>
                </a:extLst>
              </a:tr>
              <a:tr h="655681">
                <a:tc>
                  <a:txBody>
                    <a:bodyPr/>
                    <a:lstStyle/>
                    <a:p>
                      <a:pPr marL="0" marR="0" lvl="0" indent="0" algn="l" rtl="0">
                        <a:spcBef>
                          <a:spcPts val="0"/>
                        </a:spcBef>
                        <a:spcAft>
                          <a:spcPts val="0"/>
                        </a:spcAft>
                        <a:buNone/>
                      </a:pPr>
                      <a:r>
                        <a:rPr lang="en-US" sz="1600" u="none" strike="noStrike" cap="none"/>
                        <a:t>Average of ESG_Environmental (0-100 Scale)</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7"/>
                  </a:ext>
                </a:extLst>
              </a:tr>
              <a:tr h="231935">
                <a:tc>
                  <a:txBody>
                    <a:bodyPr/>
                    <a:lstStyle/>
                    <a:p>
                      <a:pPr marL="0" marR="0" lvl="0" indent="0" algn="l" rtl="0">
                        <a:spcBef>
                          <a:spcPts val="0"/>
                        </a:spcBef>
                        <a:spcAft>
                          <a:spcPts val="0"/>
                        </a:spcAft>
                        <a:buNone/>
                      </a:pPr>
                      <a:r>
                        <a:rPr lang="en-US" sz="1600" u="none" strike="noStrike" cap="none" dirty="0"/>
                        <a:t>Average of </a:t>
                      </a:r>
                      <a:r>
                        <a:rPr lang="en-US" sz="1600" u="none" strike="noStrike" cap="none" dirty="0" err="1"/>
                        <a:t>MarketCap</a:t>
                      </a:r>
                      <a:r>
                        <a:rPr lang="en-US" sz="1600" u="none" strike="noStrike" cap="none" dirty="0"/>
                        <a:t> ($)</a:t>
                      </a:r>
                      <a:endParaRPr sz="1600" b="0" i="0" u="none" strike="noStrike" cap="none" dirty="0">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a:t>0.571034143</a:t>
                      </a:r>
                      <a:endParaRPr sz="1600" b="0" i="0" u="none" strike="noStrike" cap="none">
                        <a:solidFill>
                          <a:srgbClr val="000000"/>
                        </a:solidFill>
                        <a:latin typeface="Calibri"/>
                        <a:ea typeface="Calibri"/>
                        <a:cs typeface="Calibri"/>
                        <a:sym typeface="Calibri"/>
                      </a:endParaRPr>
                    </a:p>
                  </a:txBody>
                  <a:tcPr marL="12250" marR="12250" marT="12250" marB="0" anchor="b"/>
                </a:tc>
                <a:tc>
                  <a:txBody>
                    <a:bodyPr/>
                    <a:lstStyle/>
                    <a:p>
                      <a:pPr marL="0" marR="0" lvl="0" indent="0" algn="r" rtl="0">
                        <a:spcBef>
                          <a:spcPts val="0"/>
                        </a:spcBef>
                        <a:spcAft>
                          <a:spcPts val="0"/>
                        </a:spcAft>
                        <a:buNone/>
                      </a:pPr>
                      <a:r>
                        <a:rPr lang="en-US" sz="1600" u="none" strike="noStrike" cap="none" dirty="0"/>
                        <a:t>1</a:t>
                      </a:r>
                      <a:endParaRPr sz="1600" b="0" i="0" u="none" strike="noStrike" cap="none" dirty="0">
                        <a:solidFill>
                          <a:srgbClr val="000000"/>
                        </a:solidFill>
                        <a:latin typeface="Calibri"/>
                        <a:ea typeface="Calibri"/>
                        <a:cs typeface="Calibri"/>
                        <a:sym typeface="Calibri"/>
                      </a:endParaRPr>
                    </a:p>
                  </a:txBody>
                  <a:tcPr marL="12250" marR="12250" marT="12250" marB="0" anchor="b"/>
                </a:tc>
                <a:extLst>
                  <a:ext uri="{0D108BD9-81ED-4DB2-BD59-A6C34878D82A}">
                    <a16:rowId xmlns:a16="http://schemas.microsoft.com/office/drawing/2014/main" val="10008"/>
                  </a:ext>
                </a:extLst>
              </a:tr>
            </a:tbl>
          </a:graphicData>
        </a:graphic>
      </p:graphicFrame>
      <p:sp>
        <p:nvSpPr>
          <p:cNvPr id="194" name="Google Shape;194;p9"/>
          <p:cNvSpPr txBox="1"/>
          <p:nvPr/>
        </p:nvSpPr>
        <p:spPr>
          <a:xfrm>
            <a:off x="2094006" y="4959243"/>
            <a:ext cx="7289609"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Trebuchet MS"/>
                <a:ea typeface="Trebuchet MS"/>
                <a:cs typeface="Trebuchet MS"/>
                <a:sym typeface="Trebuchet MS"/>
              </a:rPr>
              <a:t>Strong positive correlation. Companies with better environmental practices tend to be more profitable</a:t>
            </a:r>
            <a:endParaRPr sz="1600" b="1" dirty="0"/>
          </a:p>
          <a:p>
            <a:pPr marL="0" marR="0" lvl="0" indent="0" algn="l" rtl="0">
              <a:spcBef>
                <a:spcPts val="0"/>
              </a:spcBef>
              <a:spcAft>
                <a:spcPts val="0"/>
              </a:spcAft>
              <a:buNone/>
            </a:pPr>
            <a:endParaRPr sz="2000" b="1" dirty="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en-US" sz="2000" b="1" dirty="0">
                <a:solidFill>
                  <a:schemeClr val="dk1"/>
                </a:solidFill>
                <a:latin typeface="Trebuchet MS"/>
                <a:ea typeface="Trebuchet MS"/>
                <a:cs typeface="Trebuchet MS"/>
                <a:sym typeface="Trebuchet MS"/>
              </a:rPr>
              <a:t>Moderate positive correlation. Companies with stronger environmental scores generally have larger market valuations, but less strongly than profit margin.</a:t>
            </a:r>
            <a:endParaRPr sz="1600" b="1" dirty="0"/>
          </a:p>
        </p:txBody>
      </p:sp>
      <p:sp>
        <p:nvSpPr>
          <p:cNvPr id="2" name="Google Shape;188;p8">
            <a:extLst>
              <a:ext uri="{FF2B5EF4-FFF2-40B4-BE49-F238E27FC236}">
                <a16:creationId xmlns:a16="http://schemas.microsoft.com/office/drawing/2014/main" id="{5EB66D61-E4D5-8B78-55A2-403916E7C708}"/>
              </a:ext>
            </a:extLst>
          </p:cNvPr>
          <p:cNvSpPr/>
          <p:nvPr/>
        </p:nvSpPr>
        <p:spPr>
          <a:xfrm>
            <a:off x="0" y="-104171"/>
            <a:ext cx="12191999" cy="713772"/>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chemeClr val="lt1"/>
              </a:solidFill>
              <a:latin typeface="Trebuchet MS"/>
              <a:ea typeface="Trebuchet MS"/>
              <a:cs typeface="Trebuchet MS"/>
              <a:sym typeface="Trebuchet MS"/>
            </a:endParaRPr>
          </a:p>
        </p:txBody>
      </p:sp>
      <p:sp>
        <p:nvSpPr>
          <p:cNvPr id="3" name="TextBox 2">
            <a:extLst>
              <a:ext uri="{FF2B5EF4-FFF2-40B4-BE49-F238E27FC236}">
                <a16:creationId xmlns:a16="http://schemas.microsoft.com/office/drawing/2014/main" id="{A76DEBD8-1896-F08C-2AEC-6033FE57F013}"/>
              </a:ext>
            </a:extLst>
          </p:cNvPr>
          <p:cNvSpPr txBox="1"/>
          <p:nvPr/>
        </p:nvSpPr>
        <p:spPr>
          <a:xfrm>
            <a:off x="-271462" y="-135563"/>
            <a:ext cx="4943475"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Correlation Analysis</a:t>
            </a:r>
            <a:endParaRPr lang="en-US" sz="3200" dirty="0">
              <a:solidFill>
                <a:schemeClr val="lt1"/>
              </a:solidFill>
              <a:latin typeface="Trebuchet MS"/>
              <a:ea typeface="Trebuchet MS"/>
              <a:cs typeface="Trebuchet MS"/>
              <a:sym typeface="Trebuchet MS"/>
            </a:endParaRPr>
          </a:p>
        </p:txBody>
      </p:sp>
      <p:sp>
        <p:nvSpPr>
          <p:cNvPr id="5" name="TextBox 4">
            <a:extLst>
              <a:ext uri="{FF2B5EF4-FFF2-40B4-BE49-F238E27FC236}">
                <a16:creationId xmlns:a16="http://schemas.microsoft.com/office/drawing/2014/main" id="{85693423-1F42-A2CB-E173-CA527A26B639}"/>
              </a:ext>
            </a:extLst>
          </p:cNvPr>
          <p:cNvSpPr txBox="1"/>
          <p:nvPr/>
        </p:nvSpPr>
        <p:spPr>
          <a:xfrm>
            <a:off x="0" y="5074818"/>
            <a:ext cx="2218723" cy="400110"/>
          </a:xfrm>
          <a:prstGeom prst="rect">
            <a:avLst/>
          </a:prstGeom>
          <a:noFill/>
        </p:spPr>
        <p:txBody>
          <a:bodyPr wrap="square">
            <a:spAutoFit/>
          </a:bodyPr>
          <a:lstStyle/>
          <a:p>
            <a:r>
              <a:rPr lang="en-US" sz="1800" b="1" dirty="0">
                <a:solidFill>
                  <a:schemeClr val="dk1"/>
                </a:solidFill>
                <a:latin typeface="Trebuchet MS"/>
                <a:ea typeface="Trebuchet MS"/>
                <a:cs typeface="Trebuchet MS"/>
                <a:sym typeface="Trebuchet MS"/>
              </a:rPr>
              <a:t>INTERPRETATION</a:t>
            </a:r>
            <a:r>
              <a:rPr lang="en-US" sz="2000" b="1" dirty="0">
                <a:solidFill>
                  <a:schemeClr val="dk1"/>
                </a:solidFill>
                <a:latin typeface="Trebuchet MS"/>
                <a:ea typeface="Trebuchet MS"/>
                <a:cs typeface="Trebuchet MS"/>
                <a:sym typeface="Trebuchet MS"/>
              </a:rPr>
              <a:t> :</a:t>
            </a:r>
            <a:endParaRPr lang="en-GB" sz="1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graphicFrame>
        <p:nvGraphicFramePr>
          <p:cNvPr id="199" name="Google Shape;199;p10"/>
          <p:cNvGraphicFramePr/>
          <p:nvPr>
            <p:extLst>
              <p:ext uri="{D42A27DB-BD31-4B8C-83A1-F6EECF244321}">
                <p14:modId xmlns:p14="http://schemas.microsoft.com/office/powerpoint/2010/main" val="3866858668"/>
              </p:ext>
            </p:extLst>
          </p:nvPr>
        </p:nvGraphicFramePr>
        <p:xfrm>
          <a:off x="1600201" y="674289"/>
          <a:ext cx="7625150" cy="3521590"/>
        </p:xfrm>
        <a:graphic>
          <a:graphicData uri="http://schemas.openxmlformats.org/drawingml/2006/table">
            <a:tbl>
              <a:tblPr firstRow="1" bandRow="1">
                <a:noFill/>
                <a:tableStyleId>{9DDD2387-8222-440D-BF58-4D511A6D7E4D}</a:tableStyleId>
              </a:tblPr>
              <a:tblGrid>
                <a:gridCol w="2561700">
                  <a:extLst>
                    <a:ext uri="{9D8B030D-6E8A-4147-A177-3AD203B41FA5}">
                      <a16:colId xmlns:a16="http://schemas.microsoft.com/office/drawing/2014/main" val="20000"/>
                    </a:ext>
                  </a:extLst>
                </a:gridCol>
                <a:gridCol w="2561700">
                  <a:extLst>
                    <a:ext uri="{9D8B030D-6E8A-4147-A177-3AD203B41FA5}">
                      <a16:colId xmlns:a16="http://schemas.microsoft.com/office/drawing/2014/main" val="20001"/>
                    </a:ext>
                  </a:extLst>
                </a:gridCol>
                <a:gridCol w="2501750">
                  <a:extLst>
                    <a:ext uri="{9D8B030D-6E8A-4147-A177-3AD203B41FA5}">
                      <a16:colId xmlns:a16="http://schemas.microsoft.com/office/drawing/2014/main" val="20002"/>
                    </a:ext>
                  </a:extLst>
                </a:gridCol>
              </a:tblGrid>
              <a:tr h="553825">
                <a:tc>
                  <a:txBody>
                    <a:bodyPr/>
                    <a:lstStyle/>
                    <a:p>
                      <a:pPr marL="0" marR="0" lvl="0" indent="0" algn="ctr" rtl="0">
                        <a:spcBef>
                          <a:spcPts val="0"/>
                        </a:spcBef>
                        <a:spcAft>
                          <a:spcPts val="0"/>
                        </a:spcAft>
                        <a:buNone/>
                      </a:pPr>
                      <a:r>
                        <a:rPr lang="en-US" sz="1600" u="none" strike="noStrike" cap="none"/>
                        <a:t> </a:t>
                      </a:r>
                      <a:endParaRPr sz="1600" b="0" i="1"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ctr" rtl="0">
                        <a:spcBef>
                          <a:spcPts val="0"/>
                        </a:spcBef>
                        <a:spcAft>
                          <a:spcPts val="0"/>
                        </a:spcAft>
                        <a:buNone/>
                      </a:pPr>
                      <a:r>
                        <a:rPr lang="en-US" sz="1800" u="none" strike="noStrike" cap="none" dirty="0"/>
                        <a:t>Average of </a:t>
                      </a:r>
                      <a:r>
                        <a:rPr lang="en-US" sz="1800" u="none" strike="noStrike" cap="none" dirty="0" err="1"/>
                        <a:t>ESG_Social</a:t>
                      </a:r>
                      <a:r>
                        <a:rPr lang="en-US" sz="1800" u="none" strike="noStrike" cap="none" dirty="0"/>
                        <a:t> (0-100 Scale)</a:t>
                      </a:r>
                      <a:endParaRPr sz="1800" b="0" i="1" u="none" strike="noStrike" cap="none" dirty="0">
                        <a:solidFill>
                          <a:srgbClr val="000000"/>
                        </a:solidFill>
                        <a:latin typeface="Calibri"/>
                        <a:ea typeface="Calibri"/>
                        <a:cs typeface="Calibri"/>
                        <a:sym typeface="Calibri"/>
                      </a:endParaRPr>
                    </a:p>
                  </a:txBody>
                  <a:tcPr marL="13825" marR="13825" marT="13825" marB="0" anchor="b"/>
                </a:tc>
                <a:tc>
                  <a:txBody>
                    <a:bodyPr/>
                    <a:lstStyle/>
                    <a:p>
                      <a:pPr marL="0" marR="0" lvl="0" indent="0" algn="ctr" rtl="0">
                        <a:spcBef>
                          <a:spcPts val="0"/>
                        </a:spcBef>
                        <a:spcAft>
                          <a:spcPts val="0"/>
                        </a:spcAft>
                        <a:buNone/>
                      </a:pPr>
                      <a:r>
                        <a:rPr lang="en-US" sz="1800" u="none" strike="noStrike" cap="none" dirty="0"/>
                        <a:t>Average of Profit Margin</a:t>
                      </a:r>
                      <a:endParaRPr sz="1800" b="0" i="1" u="none" strike="noStrike" cap="none" dirty="0">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0"/>
                  </a:ext>
                </a:extLst>
              </a:tr>
              <a:tr h="553825">
                <a:tc>
                  <a:txBody>
                    <a:bodyPr/>
                    <a:lstStyle/>
                    <a:p>
                      <a:pPr marL="0" marR="0" lvl="0" indent="0" algn="l" rtl="0">
                        <a:spcBef>
                          <a:spcPts val="0"/>
                        </a:spcBef>
                        <a:spcAft>
                          <a:spcPts val="0"/>
                        </a:spcAft>
                        <a:buNone/>
                      </a:pPr>
                      <a:r>
                        <a:rPr lang="en-US" sz="1600" u="none" strike="noStrike" cap="none"/>
                        <a:t>Average of ESG_Social (0-100 Scale)</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1"/>
                  </a:ext>
                </a:extLst>
              </a:tr>
              <a:tr h="310400">
                <a:tc>
                  <a:txBody>
                    <a:bodyPr/>
                    <a:lstStyle/>
                    <a:p>
                      <a:pPr marL="0" marR="0" lvl="0" indent="0" algn="l" rtl="0">
                        <a:spcBef>
                          <a:spcPts val="0"/>
                        </a:spcBef>
                        <a:spcAft>
                          <a:spcPts val="0"/>
                        </a:spcAft>
                        <a:buNone/>
                      </a:pPr>
                      <a:r>
                        <a:rPr lang="en-US" sz="1600" u="none" strike="noStrike" cap="none"/>
                        <a:t>Average of ProfitMargin</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dirty="0"/>
                        <a:t>0.103700067</a:t>
                      </a:r>
                      <a:endParaRPr sz="1600" b="0" i="0" u="none" strike="noStrike" cap="none" dirty="0">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2"/>
                  </a:ext>
                </a:extLst>
              </a:tr>
              <a:tr h="338425">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3"/>
                  </a:ext>
                </a:extLst>
              </a:tr>
              <a:tr h="338425">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4"/>
                  </a:ext>
                </a:extLst>
              </a:tr>
              <a:tr h="553825">
                <a:tc>
                  <a:txBody>
                    <a:bodyPr/>
                    <a:lstStyle/>
                    <a:p>
                      <a:pPr marL="0" marR="0" lvl="0" indent="0" algn="ctr" rtl="0">
                        <a:spcBef>
                          <a:spcPts val="0"/>
                        </a:spcBef>
                        <a:spcAft>
                          <a:spcPts val="0"/>
                        </a:spcAft>
                        <a:buNone/>
                      </a:pPr>
                      <a:r>
                        <a:rPr lang="en-US" sz="1600" u="none" strike="noStrike" cap="none"/>
                        <a:t> </a:t>
                      </a:r>
                      <a:endParaRPr sz="1600" b="0" i="1"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ctr" rtl="0">
                        <a:spcBef>
                          <a:spcPts val="0"/>
                        </a:spcBef>
                        <a:spcAft>
                          <a:spcPts val="0"/>
                        </a:spcAft>
                        <a:buNone/>
                      </a:pPr>
                      <a:r>
                        <a:rPr lang="en-US" sz="1600" u="none" strike="noStrike" cap="none"/>
                        <a:t>Average of ESG_Social (0-100 Scale)</a:t>
                      </a:r>
                      <a:endParaRPr sz="1600" b="0" i="1"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ctr" rtl="0">
                        <a:spcBef>
                          <a:spcPts val="0"/>
                        </a:spcBef>
                        <a:spcAft>
                          <a:spcPts val="0"/>
                        </a:spcAft>
                        <a:buNone/>
                      </a:pPr>
                      <a:r>
                        <a:rPr lang="en-US" sz="1600" u="none" strike="noStrike" cap="none"/>
                        <a:t>Average of MarketCap ($)</a:t>
                      </a:r>
                      <a:endParaRPr sz="1600" b="0" i="1"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5"/>
                  </a:ext>
                </a:extLst>
              </a:tr>
              <a:tr h="553825">
                <a:tc>
                  <a:txBody>
                    <a:bodyPr/>
                    <a:lstStyle/>
                    <a:p>
                      <a:pPr marL="0" marR="0" lvl="0" indent="0" algn="l" rtl="0">
                        <a:spcBef>
                          <a:spcPts val="0"/>
                        </a:spcBef>
                        <a:spcAft>
                          <a:spcPts val="0"/>
                        </a:spcAft>
                        <a:buNone/>
                      </a:pPr>
                      <a:r>
                        <a:rPr lang="en-US" sz="1600" u="none" strike="noStrike" cap="none"/>
                        <a:t>Average of ESG_Social (0-100 Scale)</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a:t>1</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l"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6"/>
                  </a:ext>
                </a:extLst>
              </a:tr>
              <a:tr h="310400">
                <a:tc>
                  <a:txBody>
                    <a:bodyPr/>
                    <a:lstStyle/>
                    <a:p>
                      <a:pPr marL="0" marR="0" lvl="0" indent="0" algn="l" rtl="0">
                        <a:spcBef>
                          <a:spcPts val="0"/>
                        </a:spcBef>
                        <a:spcAft>
                          <a:spcPts val="0"/>
                        </a:spcAft>
                        <a:buNone/>
                      </a:pPr>
                      <a:r>
                        <a:rPr lang="en-US" sz="1600" u="none" strike="noStrike" cap="none"/>
                        <a:t>Average of MarketCap ($)</a:t>
                      </a:r>
                      <a:endParaRPr sz="1600" b="0" i="0" u="none" strike="noStrike" cap="none">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dirty="0"/>
                        <a:t>0.215155556</a:t>
                      </a:r>
                      <a:endParaRPr sz="1600" b="0" i="0" u="none" strike="noStrike" cap="none" dirty="0">
                        <a:solidFill>
                          <a:srgbClr val="000000"/>
                        </a:solidFill>
                        <a:latin typeface="Calibri"/>
                        <a:ea typeface="Calibri"/>
                        <a:cs typeface="Calibri"/>
                        <a:sym typeface="Calibri"/>
                      </a:endParaRPr>
                    </a:p>
                  </a:txBody>
                  <a:tcPr marL="13825" marR="13825" marT="13825" marB="0" anchor="b"/>
                </a:tc>
                <a:tc>
                  <a:txBody>
                    <a:bodyPr/>
                    <a:lstStyle/>
                    <a:p>
                      <a:pPr marL="0" marR="0" lvl="0" indent="0" algn="r" rtl="0">
                        <a:spcBef>
                          <a:spcPts val="0"/>
                        </a:spcBef>
                        <a:spcAft>
                          <a:spcPts val="0"/>
                        </a:spcAft>
                        <a:buNone/>
                      </a:pPr>
                      <a:r>
                        <a:rPr lang="en-US" sz="1600" u="none" strike="noStrike" cap="none" dirty="0"/>
                        <a:t>1</a:t>
                      </a:r>
                      <a:endParaRPr sz="1600" b="0" i="0" u="none" strike="noStrike" cap="none" dirty="0">
                        <a:solidFill>
                          <a:srgbClr val="000000"/>
                        </a:solidFill>
                        <a:latin typeface="Calibri"/>
                        <a:ea typeface="Calibri"/>
                        <a:cs typeface="Calibri"/>
                        <a:sym typeface="Calibri"/>
                      </a:endParaRPr>
                    </a:p>
                  </a:txBody>
                  <a:tcPr marL="13825" marR="13825" marT="13825" marB="0" anchor="b"/>
                </a:tc>
                <a:extLst>
                  <a:ext uri="{0D108BD9-81ED-4DB2-BD59-A6C34878D82A}">
                    <a16:rowId xmlns:a16="http://schemas.microsoft.com/office/drawing/2014/main" val="10007"/>
                  </a:ext>
                </a:extLst>
              </a:tr>
            </a:tbl>
          </a:graphicData>
        </a:graphic>
      </p:graphicFrame>
      <p:sp>
        <p:nvSpPr>
          <p:cNvPr id="200" name="Google Shape;200;p10"/>
          <p:cNvSpPr txBox="1"/>
          <p:nvPr/>
        </p:nvSpPr>
        <p:spPr>
          <a:xfrm>
            <a:off x="2390172" y="4638597"/>
            <a:ext cx="7111015" cy="2308284"/>
          </a:xfrm>
          <a:prstGeom prst="rect">
            <a:avLst/>
          </a:prstGeom>
          <a:noFill/>
          <a:ln>
            <a:noFill/>
          </a:ln>
        </p:spPr>
        <p:txBody>
          <a:bodyPr spcFirstLastPara="1" wrap="square" lIns="91425" tIns="45700" rIns="91425" bIns="45700" anchor="t" anchorCtr="0">
            <a:spAutoFit/>
          </a:bodyPr>
          <a:lstStyle/>
          <a:p>
            <a:r>
              <a:rPr lang="en-US" sz="1800" b="1" dirty="0">
                <a:solidFill>
                  <a:schemeClr val="dk1"/>
                </a:solidFill>
                <a:latin typeface="Trebuchet MS" panose="020B0603020202020204" pitchFamily="34" charset="0"/>
                <a:ea typeface="Trebuchet MS"/>
                <a:cs typeface="Trebuchet MS"/>
                <a:sym typeface="Trebuchet MS"/>
              </a:rPr>
              <a:t>Profit Margin: (</a:t>
            </a:r>
            <a:r>
              <a:rPr lang="en-US" sz="1800" b="1" u="none" strike="noStrike" cap="none" dirty="0">
                <a:latin typeface="Trebuchet MS" panose="020B0603020202020204" pitchFamily="34" charset="0"/>
              </a:rPr>
              <a:t>0.103700067</a:t>
            </a:r>
            <a:r>
              <a:rPr lang="en-US" sz="1800" b="1" dirty="0">
                <a:solidFill>
                  <a:schemeClr val="dk1"/>
                </a:solidFill>
                <a:latin typeface="Trebuchet MS" panose="020B0603020202020204" pitchFamily="34" charset="0"/>
                <a:ea typeface="Trebuchet MS"/>
                <a:cs typeface="Trebuchet MS"/>
                <a:sym typeface="Trebuchet MS"/>
              </a:rPr>
              <a:t>) Very weak positive correlation. Social practices do not strongly affect profitability across the companies.</a:t>
            </a:r>
            <a:endParaRPr b="1" dirty="0">
              <a:latin typeface="Trebuchet MS" panose="020B0603020202020204" pitchFamily="34" charset="0"/>
            </a:endParaRPr>
          </a:p>
          <a:p>
            <a:pPr marL="0" marR="0" lvl="0" indent="0" algn="l" rtl="0">
              <a:spcBef>
                <a:spcPts val="0"/>
              </a:spcBef>
              <a:spcAft>
                <a:spcPts val="0"/>
              </a:spcAft>
              <a:buNone/>
            </a:pPr>
            <a:endParaRPr sz="1800" b="1" dirty="0">
              <a:solidFill>
                <a:schemeClr val="dk1"/>
              </a:solidFill>
              <a:latin typeface="Trebuchet MS" panose="020B0603020202020204" pitchFamily="34" charset="0"/>
              <a:ea typeface="Trebuchet MS"/>
              <a:cs typeface="Trebuchet MS"/>
              <a:sym typeface="Trebuchet MS"/>
            </a:endParaRPr>
          </a:p>
          <a:p>
            <a:r>
              <a:rPr lang="en-US" sz="1800" b="1" dirty="0">
                <a:solidFill>
                  <a:schemeClr val="dk1"/>
                </a:solidFill>
                <a:latin typeface="Trebuchet MS" panose="020B0603020202020204" pitchFamily="34" charset="0"/>
                <a:ea typeface="Trebuchet MS"/>
                <a:cs typeface="Trebuchet MS"/>
                <a:sym typeface="Trebuchet MS"/>
              </a:rPr>
              <a:t>Weak positive correlation (</a:t>
            </a:r>
            <a:r>
              <a:rPr lang="en-US" sz="1800" b="1" u="none" strike="noStrike" cap="none" dirty="0">
                <a:latin typeface="Trebuchet MS" panose="020B0603020202020204" pitchFamily="34" charset="0"/>
              </a:rPr>
              <a:t>0.215155556</a:t>
            </a:r>
            <a:r>
              <a:rPr lang="en-US" sz="1800" b="1" dirty="0">
                <a:solidFill>
                  <a:schemeClr val="dk1"/>
                </a:solidFill>
                <a:latin typeface="Trebuchet MS" panose="020B0603020202020204" pitchFamily="34" charset="0"/>
                <a:ea typeface="Trebuchet MS"/>
                <a:cs typeface="Trebuchet MS"/>
                <a:sym typeface="Trebuchet MS"/>
              </a:rPr>
              <a:t>). Companies with better social practices have slightly larger market caps, but the link is weak.</a:t>
            </a:r>
            <a:endParaRPr b="1" dirty="0">
              <a:latin typeface="Trebuchet MS" panose="020B0603020202020204" pitchFamily="34" charset="0"/>
            </a:endParaRPr>
          </a:p>
          <a:p>
            <a:pPr marL="0" marR="0" lvl="0" indent="0" algn="l" rtl="0">
              <a:spcBef>
                <a:spcPts val="0"/>
              </a:spcBef>
              <a:spcAft>
                <a:spcPts val="0"/>
              </a:spcAft>
              <a:buNone/>
            </a:pPr>
            <a:endParaRPr sz="1800" b="1" dirty="0">
              <a:solidFill>
                <a:schemeClr val="dk1"/>
              </a:solidFill>
              <a:latin typeface="Trebuchet MS" panose="020B0603020202020204" pitchFamily="34" charset="0"/>
              <a:ea typeface="Trebuchet MS"/>
              <a:cs typeface="Trebuchet MS"/>
              <a:sym typeface="Trebuchet MS"/>
            </a:endParaRPr>
          </a:p>
        </p:txBody>
      </p:sp>
      <p:sp>
        <p:nvSpPr>
          <p:cNvPr id="2" name="Google Shape;188;p8">
            <a:extLst>
              <a:ext uri="{FF2B5EF4-FFF2-40B4-BE49-F238E27FC236}">
                <a16:creationId xmlns:a16="http://schemas.microsoft.com/office/drawing/2014/main" id="{9FC061FA-4563-52B8-24BC-795C327BBB3E}"/>
              </a:ext>
            </a:extLst>
          </p:cNvPr>
          <p:cNvSpPr/>
          <p:nvPr/>
        </p:nvSpPr>
        <p:spPr>
          <a:xfrm>
            <a:off x="0" y="-104171"/>
            <a:ext cx="12191999" cy="713772"/>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chemeClr val="lt1"/>
              </a:solidFill>
              <a:latin typeface="Trebuchet MS"/>
              <a:ea typeface="Trebuchet MS"/>
              <a:cs typeface="Trebuchet MS"/>
              <a:sym typeface="Trebuchet MS"/>
            </a:endParaRPr>
          </a:p>
        </p:txBody>
      </p:sp>
      <p:sp>
        <p:nvSpPr>
          <p:cNvPr id="3" name="TextBox 2">
            <a:extLst>
              <a:ext uri="{FF2B5EF4-FFF2-40B4-BE49-F238E27FC236}">
                <a16:creationId xmlns:a16="http://schemas.microsoft.com/office/drawing/2014/main" id="{C91A3075-0D01-18FF-6E23-DC04F9915637}"/>
              </a:ext>
            </a:extLst>
          </p:cNvPr>
          <p:cNvSpPr txBox="1"/>
          <p:nvPr/>
        </p:nvSpPr>
        <p:spPr>
          <a:xfrm>
            <a:off x="-271462" y="-135563"/>
            <a:ext cx="4943475"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Correlation Analysis</a:t>
            </a:r>
            <a:endParaRPr lang="en-US" sz="3200" dirty="0">
              <a:solidFill>
                <a:schemeClr val="lt1"/>
              </a:solidFill>
              <a:latin typeface="Trebuchet MS"/>
              <a:ea typeface="Trebuchet MS"/>
              <a:cs typeface="Trebuchet MS"/>
              <a:sym typeface="Trebuchet MS"/>
            </a:endParaRPr>
          </a:p>
        </p:txBody>
      </p:sp>
      <p:sp>
        <p:nvSpPr>
          <p:cNvPr id="4" name="TextBox 3">
            <a:extLst>
              <a:ext uri="{FF2B5EF4-FFF2-40B4-BE49-F238E27FC236}">
                <a16:creationId xmlns:a16="http://schemas.microsoft.com/office/drawing/2014/main" id="{A87D123E-3714-5052-B368-A36CE62699A0}"/>
              </a:ext>
            </a:extLst>
          </p:cNvPr>
          <p:cNvSpPr txBox="1"/>
          <p:nvPr/>
        </p:nvSpPr>
        <p:spPr>
          <a:xfrm>
            <a:off x="171450" y="4648161"/>
            <a:ext cx="2218723" cy="400110"/>
          </a:xfrm>
          <a:prstGeom prst="rect">
            <a:avLst/>
          </a:prstGeom>
          <a:noFill/>
        </p:spPr>
        <p:txBody>
          <a:bodyPr wrap="square">
            <a:spAutoFit/>
          </a:bodyPr>
          <a:lstStyle/>
          <a:p>
            <a:r>
              <a:rPr lang="en-US" sz="1800" b="1" dirty="0">
                <a:solidFill>
                  <a:schemeClr val="dk1"/>
                </a:solidFill>
                <a:latin typeface="Trebuchet MS"/>
                <a:ea typeface="Trebuchet MS"/>
                <a:cs typeface="Trebuchet MS"/>
                <a:sym typeface="Trebuchet MS"/>
              </a:rPr>
              <a:t>INTERPRETATION</a:t>
            </a:r>
            <a:r>
              <a:rPr lang="en-US" sz="2000" b="1" dirty="0">
                <a:solidFill>
                  <a:schemeClr val="dk1"/>
                </a:solidFill>
                <a:latin typeface="Trebuchet MS"/>
                <a:ea typeface="Trebuchet MS"/>
                <a:cs typeface="Trebuchet MS"/>
                <a:sym typeface="Trebuchet MS"/>
              </a:rPr>
              <a:t> :</a:t>
            </a:r>
            <a:endParaRPr lang="en-GB" sz="1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grpSp>
        <p:nvGrpSpPr>
          <p:cNvPr id="205" name="Google Shape;205;p11"/>
          <p:cNvGrpSpPr/>
          <p:nvPr/>
        </p:nvGrpSpPr>
        <p:grpSpPr>
          <a:xfrm>
            <a:off x="0" y="-8467"/>
            <a:ext cx="12192000" cy="6866467"/>
            <a:chOff x="0" y="-8467"/>
            <a:chExt cx="12192000" cy="6866467"/>
          </a:xfrm>
        </p:grpSpPr>
        <p:cxnSp>
          <p:nvCxnSpPr>
            <p:cNvPr id="206" name="Google Shape;206;p11"/>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207" name="Google Shape;207;p11"/>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208" name="Google Shape;208;p1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09" name="Google Shape;209;p1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0" name="Google Shape;210;p11"/>
            <p:cNvSpPr/>
            <p:nvPr/>
          </p:nvSpPr>
          <p:spPr>
            <a:xfrm>
              <a:off x="8932333" y="3048000"/>
              <a:ext cx="3259667" cy="3810000"/>
            </a:xfrm>
            <a:prstGeom prst="triangle">
              <a:avLst>
                <a:gd name="adj" fmla="val 100000"/>
              </a:avLst>
            </a:prstGeom>
            <a:solidFill>
              <a:srgbClr val="6C911C">
                <a:alpha val="65882"/>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1" name="Google Shape;211;p1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6C911C">
                <a:alpha val="4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2" name="Google Shape;212;p1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3" name="Google Shape;213;p1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3F7818">
                <a:alpha val="8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4" name="Google Shape;214;p11"/>
            <p:cNvSpPr/>
            <p:nvPr/>
          </p:nvSpPr>
          <p:spPr>
            <a:xfrm>
              <a:off x="10371666" y="3589867"/>
              <a:ext cx="1817159" cy="3268133"/>
            </a:xfrm>
            <a:prstGeom prst="triangle">
              <a:avLst>
                <a:gd name="adj" fmla="val 100000"/>
              </a:avLst>
            </a:prstGeom>
            <a:solidFill>
              <a:srgbClr val="6C911C">
                <a:alpha val="65882"/>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5" name="Google Shape;215;p11"/>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216" name="Google Shape;216;p11"/>
          <p:cNvSpPr/>
          <p:nvPr/>
        </p:nvSpPr>
        <p:spPr>
          <a:xfrm>
            <a:off x="0" y="0"/>
            <a:ext cx="12188952"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pSp>
        <p:nvGrpSpPr>
          <p:cNvPr id="217" name="Google Shape;217;p11"/>
          <p:cNvGrpSpPr/>
          <p:nvPr/>
        </p:nvGrpSpPr>
        <p:grpSpPr>
          <a:xfrm>
            <a:off x="0" y="-8467"/>
            <a:ext cx="12192000" cy="6866467"/>
            <a:chOff x="0" y="-8467"/>
            <a:chExt cx="12192000" cy="6866467"/>
          </a:xfrm>
        </p:grpSpPr>
        <p:cxnSp>
          <p:nvCxnSpPr>
            <p:cNvPr id="218" name="Google Shape;218;p11"/>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19" name="Google Shape;219;p1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0" name="Google Shape;220;p1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1" name="Google Shape;221;p11"/>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2" name="Google Shape;222;p1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3" name="Google Shape;223;p1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4" name="Google Shape;224;p1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5" name="Google Shape;225;p11"/>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6" name="Google Shape;226;p11"/>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227" name="Google Shape;227;p11"/>
          <p:cNvSpPr/>
          <p:nvPr/>
        </p:nvSpPr>
        <p:spPr>
          <a:xfrm>
            <a:off x="448733" y="937818"/>
            <a:ext cx="11237976" cy="5897880"/>
          </a:xfrm>
          <a:prstGeom prst="rect">
            <a:avLst/>
          </a:prstGeom>
          <a:solidFill>
            <a:srgbClr val="FFFFFF"/>
          </a:solidFill>
          <a:ln>
            <a:noFill/>
          </a:ln>
          <a:effectLst>
            <a:outerShdw blurRad="63500" dist="17780" dir="5400000" algn="t" rotWithShape="0">
              <a:srgbClr val="000000">
                <a:alpha val="4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aphicFrame>
        <p:nvGraphicFramePr>
          <p:cNvPr id="228" name="Google Shape;228;p11"/>
          <p:cNvGraphicFramePr/>
          <p:nvPr>
            <p:extLst>
              <p:ext uri="{D42A27DB-BD31-4B8C-83A1-F6EECF244321}">
                <p14:modId xmlns:p14="http://schemas.microsoft.com/office/powerpoint/2010/main" val="287113315"/>
              </p:ext>
            </p:extLst>
          </p:nvPr>
        </p:nvGraphicFramePr>
        <p:xfrm>
          <a:off x="505291" y="1374460"/>
          <a:ext cx="6963525" cy="5069200"/>
        </p:xfrm>
        <a:graphic>
          <a:graphicData uri="http://schemas.openxmlformats.org/drawingml/2006/table">
            <a:tbl>
              <a:tblPr firstRow="1" bandRow="1">
                <a:noFill/>
                <a:tableStyleId>{9DDD2387-8222-440D-BF58-4D511A6D7E4D}</a:tableStyleId>
              </a:tblPr>
              <a:tblGrid>
                <a:gridCol w="2677575">
                  <a:extLst>
                    <a:ext uri="{9D8B030D-6E8A-4147-A177-3AD203B41FA5}">
                      <a16:colId xmlns:a16="http://schemas.microsoft.com/office/drawing/2014/main" val="20000"/>
                    </a:ext>
                  </a:extLst>
                </a:gridCol>
                <a:gridCol w="2126575">
                  <a:extLst>
                    <a:ext uri="{9D8B030D-6E8A-4147-A177-3AD203B41FA5}">
                      <a16:colId xmlns:a16="http://schemas.microsoft.com/office/drawing/2014/main" val="20001"/>
                    </a:ext>
                  </a:extLst>
                </a:gridCol>
                <a:gridCol w="2159375">
                  <a:extLst>
                    <a:ext uri="{9D8B030D-6E8A-4147-A177-3AD203B41FA5}">
                      <a16:colId xmlns:a16="http://schemas.microsoft.com/office/drawing/2014/main" val="20002"/>
                    </a:ext>
                  </a:extLst>
                </a:gridCol>
              </a:tblGrid>
              <a:tr h="724250">
                <a:tc>
                  <a:txBody>
                    <a:bodyPr/>
                    <a:lstStyle/>
                    <a:p>
                      <a:pPr marL="0" marR="0" lvl="0" indent="0" algn="ctr" rtl="0">
                        <a:spcBef>
                          <a:spcPts val="0"/>
                        </a:spcBef>
                        <a:spcAft>
                          <a:spcPts val="0"/>
                        </a:spcAft>
                        <a:buNone/>
                      </a:pPr>
                      <a:r>
                        <a:rPr lang="en-US" sz="1900" u="none" strike="noStrike" cap="none"/>
                        <a:t> </a:t>
                      </a:r>
                      <a:endParaRPr sz="1900" b="0" i="1"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ctr" rtl="0">
                        <a:spcBef>
                          <a:spcPts val="0"/>
                        </a:spcBef>
                        <a:spcAft>
                          <a:spcPts val="0"/>
                        </a:spcAft>
                        <a:buNone/>
                      </a:pPr>
                      <a:r>
                        <a:rPr lang="en-US" sz="1900" u="none" strike="noStrike" cap="none"/>
                        <a:t>Average of ESG_Governance (0-100 Scale)</a:t>
                      </a:r>
                      <a:endParaRPr sz="1900" b="0" i="1"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ctr" rtl="0">
                        <a:spcBef>
                          <a:spcPts val="0"/>
                        </a:spcBef>
                        <a:spcAft>
                          <a:spcPts val="0"/>
                        </a:spcAft>
                        <a:buNone/>
                      </a:pPr>
                      <a:r>
                        <a:rPr lang="en-US" sz="1900" u="none" strike="noStrike" cap="none"/>
                        <a:t>Average of ProfitMargin</a:t>
                      </a:r>
                      <a:endParaRPr sz="1900" b="0" i="1"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0"/>
                  </a:ext>
                </a:extLst>
              </a:tr>
              <a:tr h="497075">
                <a:tc>
                  <a:txBody>
                    <a:bodyPr/>
                    <a:lstStyle/>
                    <a:p>
                      <a:pPr marL="0" marR="0" lvl="0" indent="0" algn="l" rtl="0">
                        <a:spcBef>
                          <a:spcPts val="0"/>
                        </a:spcBef>
                        <a:spcAft>
                          <a:spcPts val="0"/>
                        </a:spcAft>
                        <a:buNone/>
                      </a:pPr>
                      <a:r>
                        <a:rPr lang="en-US" sz="1900" u="none" strike="noStrike" cap="none"/>
                        <a:t>Average of ESG_Governance (0-100 Scale)</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a:t>1</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1"/>
                  </a:ext>
                </a:extLst>
              </a:tr>
              <a:tr h="269925">
                <a:tc>
                  <a:txBody>
                    <a:bodyPr/>
                    <a:lstStyle/>
                    <a:p>
                      <a:pPr marL="0" marR="0" lvl="0" indent="0" algn="l" rtl="0">
                        <a:spcBef>
                          <a:spcPts val="0"/>
                        </a:spcBef>
                        <a:spcAft>
                          <a:spcPts val="0"/>
                        </a:spcAft>
                        <a:buNone/>
                      </a:pPr>
                      <a:r>
                        <a:rPr lang="en-US" sz="1900" u="none" strike="noStrike" cap="none"/>
                        <a:t>Average of ProfitMargin</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dirty="0"/>
                        <a:t>-0.521206535</a:t>
                      </a:r>
                      <a:endParaRPr sz="1900" b="0" i="0" u="none" strike="noStrike" cap="none" dirty="0">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a:t>1</a:t>
                      </a:r>
                      <a:endParaRPr sz="1900" b="0" i="0"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2"/>
                  </a:ext>
                </a:extLst>
              </a:tr>
              <a:tr h="315350">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3"/>
                  </a:ext>
                </a:extLst>
              </a:tr>
              <a:tr h="315350">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4"/>
                  </a:ext>
                </a:extLst>
              </a:tr>
              <a:tr h="724250">
                <a:tc>
                  <a:txBody>
                    <a:bodyPr/>
                    <a:lstStyle/>
                    <a:p>
                      <a:pPr marL="0" marR="0" lvl="0" indent="0" algn="ctr" rtl="0">
                        <a:spcBef>
                          <a:spcPts val="0"/>
                        </a:spcBef>
                        <a:spcAft>
                          <a:spcPts val="0"/>
                        </a:spcAft>
                        <a:buNone/>
                      </a:pPr>
                      <a:r>
                        <a:rPr lang="en-US" sz="1900" u="none" strike="noStrike" cap="none"/>
                        <a:t> </a:t>
                      </a:r>
                      <a:endParaRPr sz="1900" b="0" i="1"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ctr" rtl="0">
                        <a:spcBef>
                          <a:spcPts val="0"/>
                        </a:spcBef>
                        <a:spcAft>
                          <a:spcPts val="0"/>
                        </a:spcAft>
                        <a:buNone/>
                      </a:pPr>
                      <a:r>
                        <a:rPr lang="en-US" sz="1900" u="none" strike="noStrike" cap="none"/>
                        <a:t>Average of ESG_Governance (0-100 Scale)</a:t>
                      </a:r>
                      <a:endParaRPr sz="1900" b="0" i="1"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ctr" rtl="0">
                        <a:spcBef>
                          <a:spcPts val="0"/>
                        </a:spcBef>
                        <a:spcAft>
                          <a:spcPts val="0"/>
                        </a:spcAft>
                        <a:buNone/>
                      </a:pPr>
                      <a:r>
                        <a:rPr lang="en-US" sz="1900" u="none" strike="noStrike" cap="none"/>
                        <a:t>Average of MarketCap ($)</a:t>
                      </a:r>
                      <a:endParaRPr sz="1900" b="0" i="1"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5"/>
                  </a:ext>
                </a:extLst>
              </a:tr>
              <a:tr h="497075">
                <a:tc>
                  <a:txBody>
                    <a:bodyPr/>
                    <a:lstStyle/>
                    <a:p>
                      <a:pPr marL="0" marR="0" lvl="0" indent="0" algn="l" rtl="0">
                        <a:spcBef>
                          <a:spcPts val="0"/>
                        </a:spcBef>
                        <a:spcAft>
                          <a:spcPts val="0"/>
                        </a:spcAft>
                        <a:buNone/>
                      </a:pPr>
                      <a:r>
                        <a:rPr lang="en-US" sz="1900" u="none" strike="noStrike" cap="none"/>
                        <a:t>Average of ESG_Governance (0-100 Scale)</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a:t>1</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l" rtl="0">
                        <a:spcBef>
                          <a:spcPts val="0"/>
                        </a:spcBef>
                        <a:spcAft>
                          <a:spcPts val="0"/>
                        </a:spcAft>
                        <a:buNone/>
                      </a:pPr>
                      <a:endParaRPr sz="1900" b="0" i="0" u="none" strike="noStrike" cap="none">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6"/>
                  </a:ext>
                </a:extLst>
              </a:tr>
              <a:tr h="269925">
                <a:tc>
                  <a:txBody>
                    <a:bodyPr/>
                    <a:lstStyle/>
                    <a:p>
                      <a:pPr marL="0" marR="0" lvl="0" indent="0" algn="l" rtl="0">
                        <a:spcBef>
                          <a:spcPts val="0"/>
                        </a:spcBef>
                        <a:spcAft>
                          <a:spcPts val="0"/>
                        </a:spcAft>
                        <a:buNone/>
                      </a:pPr>
                      <a:r>
                        <a:rPr lang="en-US" sz="1900" u="none" strike="noStrike" cap="none" dirty="0"/>
                        <a:t>Average of </a:t>
                      </a:r>
                      <a:r>
                        <a:rPr lang="en-US" sz="1900" u="none" strike="noStrike" cap="none" dirty="0" err="1"/>
                        <a:t>MarketCap</a:t>
                      </a:r>
                      <a:r>
                        <a:rPr lang="en-US" sz="1900" u="none" strike="noStrike" cap="none" dirty="0"/>
                        <a:t> ($)</a:t>
                      </a:r>
                      <a:endParaRPr sz="1900" b="0" i="0" u="none" strike="noStrike" cap="none" dirty="0">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a:t>-0.600520445</a:t>
                      </a:r>
                      <a:endParaRPr sz="1900" b="0" i="0" u="none" strike="noStrike" cap="none">
                        <a:solidFill>
                          <a:srgbClr val="000000"/>
                        </a:solidFill>
                        <a:latin typeface="Calibri"/>
                        <a:ea typeface="Calibri"/>
                        <a:cs typeface="Calibri"/>
                        <a:sym typeface="Calibri"/>
                      </a:endParaRPr>
                    </a:p>
                  </a:txBody>
                  <a:tcPr marL="15850" marR="15850" marT="15850" marB="0" anchor="b"/>
                </a:tc>
                <a:tc>
                  <a:txBody>
                    <a:bodyPr/>
                    <a:lstStyle/>
                    <a:p>
                      <a:pPr marL="0" marR="0" lvl="0" indent="0" algn="r" rtl="0">
                        <a:spcBef>
                          <a:spcPts val="0"/>
                        </a:spcBef>
                        <a:spcAft>
                          <a:spcPts val="0"/>
                        </a:spcAft>
                        <a:buNone/>
                      </a:pPr>
                      <a:r>
                        <a:rPr lang="en-US" sz="1900" u="none" strike="noStrike" cap="none" dirty="0"/>
                        <a:t>1</a:t>
                      </a:r>
                      <a:endParaRPr sz="1900" b="0" i="0" u="none" strike="noStrike" cap="none" dirty="0">
                        <a:solidFill>
                          <a:srgbClr val="000000"/>
                        </a:solidFill>
                        <a:latin typeface="Calibri"/>
                        <a:ea typeface="Calibri"/>
                        <a:cs typeface="Calibri"/>
                        <a:sym typeface="Calibri"/>
                      </a:endParaRPr>
                    </a:p>
                  </a:txBody>
                  <a:tcPr marL="15850" marR="15850" marT="15850" marB="0" anchor="b"/>
                </a:tc>
                <a:extLst>
                  <a:ext uri="{0D108BD9-81ED-4DB2-BD59-A6C34878D82A}">
                    <a16:rowId xmlns:a16="http://schemas.microsoft.com/office/drawing/2014/main" val="10007"/>
                  </a:ext>
                </a:extLst>
              </a:tr>
            </a:tbl>
          </a:graphicData>
        </a:graphic>
      </p:graphicFrame>
      <p:sp>
        <p:nvSpPr>
          <p:cNvPr id="229" name="Google Shape;229;p11"/>
          <p:cNvSpPr txBox="1"/>
          <p:nvPr/>
        </p:nvSpPr>
        <p:spPr>
          <a:xfrm>
            <a:off x="7539466" y="2066978"/>
            <a:ext cx="4147243" cy="34778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Trebuchet MS"/>
                <a:ea typeface="Trebuchet MS"/>
                <a:cs typeface="Trebuchet MS"/>
                <a:sym typeface="Trebuchet MS"/>
              </a:rPr>
              <a:t>Moderate negative correlation. This means that, as governance scores increase, profit margins tend to decrease, across the companies/industries.</a:t>
            </a:r>
            <a:endParaRPr sz="1600" b="1" dirty="0"/>
          </a:p>
          <a:p>
            <a:pPr marL="0" marR="0" lvl="0" indent="0" algn="l" rtl="0">
              <a:spcBef>
                <a:spcPts val="0"/>
              </a:spcBef>
              <a:spcAft>
                <a:spcPts val="0"/>
              </a:spcAft>
              <a:buNone/>
            </a:pPr>
            <a:endParaRPr sz="2000" b="1" dirty="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en-US" sz="2000" b="1" dirty="0">
                <a:solidFill>
                  <a:schemeClr val="dk1"/>
                </a:solidFill>
                <a:latin typeface="Trebuchet MS"/>
                <a:ea typeface="Trebuchet MS"/>
                <a:cs typeface="Trebuchet MS"/>
                <a:sym typeface="Trebuchet MS"/>
              </a:rPr>
              <a:t>Moderately strong negative correlation. This indicates that companies with higher governance scores tend to have lower market capitalizations.</a:t>
            </a:r>
            <a:endParaRPr sz="1600" b="1" dirty="0"/>
          </a:p>
        </p:txBody>
      </p:sp>
      <p:sp>
        <p:nvSpPr>
          <p:cNvPr id="3" name="TextBox 2">
            <a:extLst>
              <a:ext uri="{FF2B5EF4-FFF2-40B4-BE49-F238E27FC236}">
                <a16:creationId xmlns:a16="http://schemas.microsoft.com/office/drawing/2014/main" id="{3E88825B-61A5-DEF7-299F-713BF39B67DF}"/>
              </a:ext>
            </a:extLst>
          </p:cNvPr>
          <p:cNvSpPr txBox="1"/>
          <p:nvPr/>
        </p:nvSpPr>
        <p:spPr>
          <a:xfrm>
            <a:off x="-128371" y="187673"/>
            <a:ext cx="4943475"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Correlation Analysis</a:t>
            </a:r>
            <a:endParaRPr lang="en-US" sz="3200" dirty="0">
              <a:solidFill>
                <a:schemeClr val="lt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2"/>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35" name="Google Shape;235;p12"/>
          <p:cNvSpPr txBox="1"/>
          <p:nvPr/>
        </p:nvSpPr>
        <p:spPr>
          <a:xfrm>
            <a:off x="792686" y="1233514"/>
            <a:ext cx="5781734" cy="4719200"/>
          </a:xfrm>
          <a:prstGeom prst="rect">
            <a:avLst/>
          </a:prstGeom>
          <a:noFill/>
          <a:ln>
            <a:noFill/>
          </a:ln>
        </p:spPr>
        <p:txBody>
          <a:bodyPr spcFirstLastPara="1" wrap="square" lIns="91425" tIns="45700" rIns="91425" bIns="45700" anchor="t" anchorCtr="0">
            <a:spAutoFit/>
          </a:bodyPr>
          <a:lstStyle/>
          <a:p>
            <a:pPr rtl="0">
              <a:spcAft>
                <a:spcPts val="800"/>
              </a:spcAft>
              <a:buNone/>
            </a:pPr>
            <a:r>
              <a:rPr lang="en-US" sz="1800" b="1" i="0" u="none" strike="noStrike" dirty="0">
                <a:solidFill>
                  <a:srgbClr val="000000"/>
                </a:solidFill>
                <a:effectLst/>
                <a:latin typeface="Trebuchet MS" panose="020B0603020202020204" pitchFamily="34" charset="0"/>
              </a:rPr>
              <a:t>1. What is the correlation between overall ESG scores and financial metrics like profit margin and market cap?  </a:t>
            </a:r>
            <a:endParaRPr lang="en-US" sz="2800" b="1" dirty="0">
              <a:effectLst/>
              <a:latin typeface="Trebuchet MS" panose="020B0603020202020204" pitchFamily="34" charset="0"/>
            </a:endParaRPr>
          </a:p>
          <a:p>
            <a:pPr>
              <a:buNone/>
            </a:pPr>
            <a:r>
              <a:rPr lang="en-US" sz="2000" b="1" dirty="0">
                <a:latin typeface="Trebuchet MS" panose="020B0603020202020204" pitchFamily="34" charset="0"/>
              </a:rPr>
              <a:t>Industries with stronger overall ESG scores generally show better financial health. There’s a strong positive relationship between ESG scores and profit margins across industries, suggesting that sustainable practices often go together with profitability. </a:t>
            </a:r>
          </a:p>
          <a:p>
            <a:pPr>
              <a:buNone/>
            </a:pPr>
            <a:r>
              <a:rPr lang="en-US" sz="2000" b="1" dirty="0">
                <a:latin typeface="Trebuchet MS" panose="020B0603020202020204" pitchFamily="34" charset="0"/>
              </a:rPr>
              <a:t>Additionally, there's a moderate positive correlation between ESG scores and market capitalization, indicating that larger, more established industries tend to invest more in ESG performance. This highlights ESG as both a financial and reputational asset.</a:t>
            </a:r>
            <a:endParaRPr sz="2000" b="1" dirty="0">
              <a:solidFill>
                <a:schemeClr val="dk1"/>
              </a:solidFill>
              <a:latin typeface="Trebuchet MS" panose="020B0603020202020204" pitchFamily="34" charset="0"/>
              <a:ea typeface="Calibri"/>
              <a:cs typeface="Calibri"/>
              <a:sym typeface="Calibri"/>
            </a:endParaRPr>
          </a:p>
        </p:txBody>
      </p:sp>
      <p:sp>
        <p:nvSpPr>
          <p:cNvPr id="2" name="TextBox 1">
            <a:extLst>
              <a:ext uri="{FF2B5EF4-FFF2-40B4-BE49-F238E27FC236}">
                <a16:creationId xmlns:a16="http://schemas.microsoft.com/office/drawing/2014/main" id="{9BE4E20B-2DEF-8AFF-AA90-7ECB88718D72}"/>
              </a:ext>
            </a:extLst>
          </p:cNvPr>
          <p:cNvSpPr txBox="1"/>
          <p:nvPr/>
        </p:nvSpPr>
        <p:spPr>
          <a:xfrm>
            <a:off x="143716" y="191793"/>
            <a:ext cx="49863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ANALYSIS AND FINDINGS</a:t>
            </a:r>
            <a:endParaRPr lang="en-US" sz="3200" b="1" dirty="0"/>
          </a:p>
        </p:txBody>
      </p:sp>
      <p:pic>
        <p:nvPicPr>
          <p:cNvPr id="1026" name="Picture 2">
            <a:extLst>
              <a:ext uri="{FF2B5EF4-FFF2-40B4-BE49-F238E27FC236}">
                <a16:creationId xmlns:a16="http://schemas.microsoft.com/office/drawing/2014/main" id="{59F2D19D-A803-EA8A-8CDD-02A2042AA933}"/>
              </a:ext>
            </a:extLst>
          </p:cNvPr>
          <p:cNvPicPr>
            <a:picLocks noChangeAspect="1" noChangeArrowheads="1"/>
          </p:cNvPicPr>
          <p:nvPr/>
        </p:nvPicPr>
        <p:blipFill>
          <a:blip r:embed="rId3"/>
          <a:srcRect/>
          <a:stretch/>
        </p:blipFill>
        <p:spPr bwMode="auto">
          <a:xfrm>
            <a:off x="7489937" y="937549"/>
            <a:ext cx="4609464" cy="282121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BC19750-2CDE-81A8-5DCA-CB68C4E94062}"/>
              </a:ext>
            </a:extLst>
          </p:cNvPr>
          <p:cNvPicPr>
            <a:picLocks noChangeAspect="1"/>
          </p:cNvPicPr>
          <p:nvPr/>
        </p:nvPicPr>
        <p:blipFill>
          <a:blip r:embed="rId4"/>
          <a:stretch>
            <a:fillRect/>
          </a:stretch>
        </p:blipFill>
        <p:spPr>
          <a:xfrm>
            <a:off x="7489938" y="3889094"/>
            <a:ext cx="4609464" cy="24736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3"/>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41" name="Google Shape;241;p13"/>
          <p:cNvSpPr txBox="1"/>
          <p:nvPr/>
        </p:nvSpPr>
        <p:spPr>
          <a:xfrm>
            <a:off x="1183340" y="1385047"/>
            <a:ext cx="4912659" cy="546017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1600"/>
              <a:buFont typeface="Times New Roman"/>
              <a:buNone/>
            </a:pPr>
            <a:r>
              <a:rPr lang="en-US" sz="1800" b="1" dirty="0">
                <a:solidFill>
                  <a:schemeClr val="dk1"/>
                </a:solidFill>
                <a:latin typeface="Trebuchet MS" panose="020B0603020202020204" pitchFamily="34" charset="0"/>
                <a:ea typeface="Times New Roman"/>
                <a:cs typeface="Times New Roman"/>
                <a:sym typeface="Times New Roman"/>
              </a:rPr>
              <a:t>2. Which ESG factor most strongly influences industry valuation? </a:t>
            </a:r>
          </a:p>
          <a:p>
            <a:pPr marL="0" marR="0" lvl="0" indent="0" algn="l" rtl="0">
              <a:lnSpc>
                <a:spcPct val="107000"/>
              </a:lnSpc>
              <a:spcBef>
                <a:spcPts val="0"/>
              </a:spcBef>
              <a:spcAft>
                <a:spcPts val="0"/>
              </a:spcAft>
              <a:buClr>
                <a:schemeClr val="dk1"/>
              </a:buClr>
              <a:buSzPts val="1600"/>
              <a:buFont typeface="Times New Roman"/>
              <a:buNone/>
            </a:pPr>
            <a:endParaRPr lang="en-US" sz="1800"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1600"/>
              <a:buFont typeface="Times New Roman"/>
              <a:buNone/>
            </a:pPr>
            <a:r>
              <a:rPr lang="en-US" sz="2000" b="1" dirty="0">
                <a:solidFill>
                  <a:schemeClr val="dk1"/>
                </a:solidFill>
                <a:latin typeface="Trebuchet MS" panose="020B0603020202020204" pitchFamily="34" charset="0"/>
                <a:ea typeface="Times New Roman"/>
                <a:cs typeface="Times New Roman"/>
                <a:sym typeface="Times New Roman"/>
              </a:rPr>
              <a:t>Industries with strong environmental scores tend to be more profitable and larger in size. The very strong positive correlation with profit margin of 0.7 suggests that investing in environmental sustainability (like energy efficiency or waste reduction) can directly support profitability. </a:t>
            </a:r>
          </a:p>
          <a:p>
            <a:pPr marL="0" marR="0" lvl="0" indent="0" algn="l" rtl="0">
              <a:lnSpc>
                <a:spcPct val="107000"/>
              </a:lnSpc>
              <a:spcBef>
                <a:spcPts val="0"/>
              </a:spcBef>
              <a:spcAft>
                <a:spcPts val="0"/>
              </a:spcAft>
              <a:buClr>
                <a:schemeClr val="dk1"/>
              </a:buClr>
              <a:buSzPts val="1600"/>
              <a:buFont typeface="Times New Roman"/>
              <a:buNone/>
            </a:pPr>
            <a:r>
              <a:rPr lang="en-US" sz="2000" b="1" dirty="0">
                <a:solidFill>
                  <a:schemeClr val="dk1"/>
                </a:solidFill>
                <a:latin typeface="Trebuchet MS" panose="020B0603020202020204" pitchFamily="34" charset="0"/>
                <a:ea typeface="Times New Roman"/>
                <a:cs typeface="Times New Roman"/>
                <a:sym typeface="Times New Roman"/>
              </a:rPr>
              <a:t>The moderate link with market cap shows that bigger and top industries are more likely to prioritize environmental performance.</a:t>
            </a:r>
          </a:p>
          <a:p>
            <a:pPr marL="0" marR="0" lvl="0" indent="0" algn="l" rtl="0">
              <a:lnSpc>
                <a:spcPct val="107000"/>
              </a:lnSpc>
              <a:spcBef>
                <a:spcPts val="0"/>
              </a:spcBef>
              <a:spcAft>
                <a:spcPts val="0"/>
              </a:spcAft>
              <a:buClr>
                <a:schemeClr val="dk1"/>
              </a:buClr>
              <a:buSzPts val="1600"/>
              <a:buFont typeface="Times New Roman"/>
              <a:buNone/>
            </a:pPr>
            <a:endParaRPr lang="en-US" sz="1600" b="1" dirty="0">
              <a:solidFill>
                <a:schemeClr val="dk1"/>
              </a:solidFill>
              <a:latin typeface="Trebuchet MS" panose="020B0603020202020204" pitchFamily="34" charset="0"/>
              <a:ea typeface="Times New Roman"/>
              <a:cs typeface="Times New Roman"/>
              <a:sym typeface="Times New Roman"/>
            </a:endParaRPr>
          </a:p>
          <a:p>
            <a:pPr marL="0" marR="0" lvl="0" indent="0" algn="l" rtl="0">
              <a:lnSpc>
                <a:spcPct val="107000"/>
              </a:lnSpc>
              <a:spcBef>
                <a:spcPts val="0"/>
              </a:spcBef>
              <a:spcAft>
                <a:spcPts val="0"/>
              </a:spcAft>
              <a:buClr>
                <a:schemeClr val="dk1"/>
              </a:buClr>
              <a:buSzPts val="1600"/>
              <a:buFont typeface="Times New Roman"/>
              <a:buNone/>
            </a:pPr>
            <a:endParaRPr lang="en-US" sz="1600" b="1" dirty="0">
              <a:solidFill>
                <a:schemeClr val="dk1"/>
              </a:solidFill>
              <a:latin typeface="Trebuchet MS" panose="020B0603020202020204" pitchFamily="34" charset="0"/>
              <a:ea typeface="Times New Roman"/>
              <a:cs typeface="Times New Roman"/>
              <a:sym typeface="Times New Roman"/>
            </a:endParaRPr>
          </a:p>
        </p:txBody>
      </p:sp>
      <p:sp>
        <p:nvSpPr>
          <p:cNvPr id="2" name="TextBox 1">
            <a:extLst>
              <a:ext uri="{FF2B5EF4-FFF2-40B4-BE49-F238E27FC236}">
                <a16:creationId xmlns:a16="http://schemas.microsoft.com/office/drawing/2014/main" id="{C0899D4D-488C-0597-DF39-B5F15CA410E5}"/>
              </a:ext>
            </a:extLst>
          </p:cNvPr>
          <p:cNvSpPr txBox="1"/>
          <p:nvPr/>
        </p:nvSpPr>
        <p:spPr>
          <a:xfrm>
            <a:off x="143716" y="191793"/>
            <a:ext cx="49863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ANALYSIS AND FINDINGS</a:t>
            </a:r>
            <a:endParaRPr lang="en-US" sz="3200" b="1" dirty="0"/>
          </a:p>
        </p:txBody>
      </p:sp>
      <p:pic>
        <p:nvPicPr>
          <p:cNvPr id="2050" name="Picture 2">
            <a:extLst>
              <a:ext uri="{FF2B5EF4-FFF2-40B4-BE49-F238E27FC236}">
                <a16:creationId xmlns:a16="http://schemas.microsoft.com/office/drawing/2014/main" id="{A46BFF20-E65B-B6CD-6626-7DCC711C9391}"/>
              </a:ext>
            </a:extLst>
          </p:cNvPr>
          <p:cNvPicPr>
            <a:picLocks noChangeAspect="1" noChangeArrowheads="1"/>
          </p:cNvPicPr>
          <p:nvPr/>
        </p:nvPicPr>
        <p:blipFill>
          <a:blip r:embed="rId3"/>
          <a:srcRect/>
          <a:stretch/>
        </p:blipFill>
        <p:spPr bwMode="auto">
          <a:xfrm>
            <a:off x="7582876" y="1003081"/>
            <a:ext cx="4463193" cy="33837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BFD670AD-30D7-508F-6847-FDE8A6E6B233}"/>
            </a:ext>
          </a:extLst>
        </p:cNvPr>
        <p:cNvGrpSpPr/>
        <p:nvPr/>
      </p:nvGrpSpPr>
      <p:grpSpPr>
        <a:xfrm>
          <a:off x="0" y="0"/>
          <a:ext cx="0" cy="0"/>
          <a:chOff x="0" y="0"/>
          <a:chExt cx="0" cy="0"/>
        </a:xfrm>
      </p:grpSpPr>
      <p:sp>
        <p:nvSpPr>
          <p:cNvPr id="240" name="Google Shape;240;p13">
            <a:extLst>
              <a:ext uri="{FF2B5EF4-FFF2-40B4-BE49-F238E27FC236}">
                <a16:creationId xmlns:a16="http://schemas.microsoft.com/office/drawing/2014/main" id="{76724FC4-CF96-F196-B140-8DF574603E8A}"/>
              </a:ext>
            </a:extLst>
          </p:cNvPr>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41" name="Google Shape;241;p13">
            <a:extLst>
              <a:ext uri="{FF2B5EF4-FFF2-40B4-BE49-F238E27FC236}">
                <a16:creationId xmlns:a16="http://schemas.microsoft.com/office/drawing/2014/main" id="{92560BBE-689D-AF23-3F67-9D1D20CD69FF}"/>
              </a:ext>
            </a:extLst>
          </p:cNvPr>
          <p:cNvSpPr txBox="1"/>
          <p:nvPr/>
        </p:nvSpPr>
        <p:spPr>
          <a:xfrm>
            <a:off x="700088" y="1072533"/>
            <a:ext cx="4429965" cy="3524001"/>
          </a:xfrm>
          <a:prstGeom prst="rect">
            <a:avLst/>
          </a:prstGeom>
          <a:noFill/>
          <a:ln>
            <a:noFill/>
          </a:ln>
        </p:spPr>
        <p:txBody>
          <a:bodyPr spcFirstLastPara="1" wrap="square" lIns="91425" tIns="45700" rIns="91425" bIns="45700" anchor="t" anchorCtr="0">
            <a:spAutoFit/>
          </a:bodyPr>
          <a:lstStyle/>
          <a:p>
            <a:pPr rtl="0">
              <a:spcAft>
                <a:spcPts val="800"/>
              </a:spcAft>
              <a:buNone/>
            </a:pPr>
            <a:r>
              <a:rPr lang="en-US" sz="1800" b="1" i="0" u="none" strike="noStrike" dirty="0">
                <a:solidFill>
                  <a:srgbClr val="000000"/>
                </a:solidFill>
                <a:effectLst/>
                <a:latin typeface="Trebuchet MS" panose="020B0603020202020204" pitchFamily="34" charset="0"/>
              </a:rPr>
              <a:t>3. What are the Top 3 Valuable Industries? </a:t>
            </a:r>
          </a:p>
          <a:p>
            <a:r>
              <a:rPr lang="en-US" sz="2000" b="1" dirty="0">
                <a:latin typeface="Trebuchet MS" panose="020B0603020202020204" pitchFamily="34" charset="0"/>
              </a:rPr>
              <a:t>The data shows that Technology</a:t>
            </a:r>
            <a:r>
              <a:rPr lang="en-US" sz="2000" dirty="0">
                <a:latin typeface="Trebuchet MS" panose="020B0603020202020204" pitchFamily="34" charset="0"/>
              </a:rPr>
              <a:t> – 69.08, </a:t>
            </a:r>
            <a:r>
              <a:rPr lang="en-US" sz="2000" b="1" dirty="0">
                <a:latin typeface="Trebuchet MS" panose="020B0603020202020204" pitchFamily="34" charset="0"/>
              </a:rPr>
              <a:t>Energy</a:t>
            </a:r>
            <a:r>
              <a:rPr lang="en-US" sz="2000" dirty="0">
                <a:latin typeface="Trebuchet MS" panose="020B0603020202020204" pitchFamily="34" charset="0"/>
              </a:rPr>
              <a:t> – 20.77 B &amp; </a:t>
            </a:r>
            <a:r>
              <a:rPr lang="en-US" sz="2000" b="1" dirty="0">
                <a:latin typeface="Trebuchet MS" panose="020B0603020202020204" pitchFamily="34" charset="0"/>
              </a:rPr>
              <a:t>Healthcare</a:t>
            </a:r>
            <a:r>
              <a:rPr lang="en-US" sz="2000" dirty="0">
                <a:latin typeface="Trebuchet MS" panose="020B0603020202020204" pitchFamily="34" charset="0"/>
              </a:rPr>
              <a:t> – 13.14 B are the most valuable industries by the measure of their market cap in dollars</a:t>
            </a:r>
          </a:p>
          <a:p>
            <a:pPr>
              <a:buNone/>
            </a:pPr>
            <a:endParaRPr lang="en-US" sz="1600" b="1" dirty="0">
              <a:latin typeface="Trebuchet MS" panose="020B0603020202020204" pitchFamily="34" charset="0"/>
            </a:endParaRPr>
          </a:p>
          <a:p>
            <a:pPr rtl="0">
              <a:spcAft>
                <a:spcPts val="800"/>
              </a:spcAft>
              <a:buNone/>
            </a:pPr>
            <a:endParaRPr lang="en-US" sz="1200" b="1" i="0" u="none" strike="noStrike" dirty="0">
              <a:solidFill>
                <a:srgbClr val="000000"/>
              </a:solidFill>
              <a:effectLst/>
              <a:latin typeface="Trebuchet MS" panose="020B0603020202020204" pitchFamily="34" charset="0"/>
            </a:endParaRPr>
          </a:p>
          <a:p>
            <a:pPr rtl="0">
              <a:spcAft>
                <a:spcPts val="800"/>
              </a:spcAft>
              <a:buNone/>
            </a:pPr>
            <a:endParaRPr lang="en-US" b="1" dirty="0">
              <a:effectLst/>
              <a:latin typeface="Trebuchet MS" panose="020B0603020202020204" pitchFamily="34" charset="0"/>
            </a:endParaRPr>
          </a:p>
          <a:p>
            <a:pPr>
              <a:buNone/>
            </a:pPr>
            <a:br>
              <a:rPr lang="en-US" dirty="0">
                <a:latin typeface="Trebuchet MS" panose="020B0603020202020204" pitchFamily="34" charset="0"/>
              </a:rPr>
            </a:br>
            <a:endParaRPr lang="en-US" sz="1100" b="1" dirty="0">
              <a:solidFill>
                <a:schemeClr val="dk1"/>
              </a:solidFill>
              <a:latin typeface="Trebuchet MS" panose="020B0603020202020204" pitchFamily="34" charset="0"/>
              <a:ea typeface="Times New Roman"/>
              <a:cs typeface="Times New Roman"/>
              <a:sym typeface="Times New Roman"/>
            </a:endParaRPr>
          </a:p>
        </p:txBody>
      </p:sp>
      <p:sp>
        <p:nvSpPr>
          <p:cNvPr id="2" name="TextBox 1">
            <a:extLst>
              <a:ext uri="{FF2B5EF4-FFF2-40B4-BE49-F238E27FC236}">
                <a16:creationId xmlns:a16="http://schemas.microsoft.com/office/drawing/2014/main" id="{13B807A9-0AE7-2FAD-6984-38AD9B568EE5}"/>
              </a:ext>
            </a:extLst>
          </p:cNvPr>
          <p:cNvSpPr txBox="1"/>
          <p:nvPr/>
        </p:nvSpPr>
        <p:spPr>
          <a:xfrm>
            <a:off x="143716" y="191793"/>
            <a:ext cx="49863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ANALYSIS AND FINDINGS</a:t>
            </a:r>
            <a:endParaRPr lang="en-US" sz="3200" b="1" dirty="0"/>
          </a:p>
        </p:txBody>
      </p:sp>
      <p:pic>
        <p:nvPicPr>
          <p:cNvPr id="4" name="Picture 3">
            <a:extLst>
              <a:ext uri="{FF2B5EF4-FFF2-40B4-BE49-F238E27FC236}">
                <a16:creationId xmlns:a16="http://schemas.microsoft.com/office/drawing/2014/main" id="{14AA5F37-23E6-8D54-0254-8934BE683FB5}"/>
              </a:ext>
            </a:extLst>
          </p:cNvPr>
          <p:cNvPicPr>
            <a:picLocks noChangeAspect="1"/>
          </p:cNvPicPr>
          <p:nvPr/>
        </p:nvPicPr>
        <p:blipFill>
          <a:blip r:embed="rId3"/>
          <a:stretch>
            <a:fillRect/>
          </a:stretch>
        </p:blipFill>
        <p:spPr>
          <a:xfrm>
            <a:off x="7092300" y="1000125"/>
            <a:ext cx="4893590" cy="3583450"/>
          </a:xfrm>
          <a:prstGeom prst="rect">
            <a:avLst/>
          </a:prstGeom>
          <a:ln w="22225">
            <a:solidFill>
              <a:srgbClr val="2D8A14"/>
            </a:solidFill>
          </a:ln>
        </p:spPr>
      </p:pic>
      <p:sp>
        <p:nvSpPr>
          <p:cNvPr id="5" name="Rectangle 4">
            <a:extLst>
              <a:ext uri="{FF2B5EF4-FFF2-40B4-BE49-F238E27FC236}">
                <a16:creationId xmlns:a16="http://schemas.microsoft.com/office/drawing/2014/main" id="{80C29509-3689-6FB3-6348-65D043EDF5B4}"/>
              </a:ext>
            </a:extLst>
          </p:cNvPr>
          <p:cNvSpPr/>
          <p:nvPr/>
        </p:nvSpPr>
        <p:spPr>
          <a:xfrm>
            <a:off x="8866208" y="1574157"/>
            <a:ext cx="1539433" cy="3703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3283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3E9C8815-70FC-9636-8E1C-6ED733E89006}"/>
            </a:ext>
          </a:extLst>
        </p:cNvPr>
        <p:cNvGrpSpPr/>
        <p:nvPr/>
      </p:nvGrpSpPr>
      <p:grpSpPr>
        <a:xfrm>
          <a:off x="0" y="0"/>
          <a:ext cx="0" cy="0"/>
          <a:chOff x="0" y="0"/>
          <a:chExt cx="0" cy="0"/>
        </a:xfrm>
      </p:grpSpPr>
      <p:sp>
        <p:nvSpPr>
          <p:cNvPr id="240" name="Google Shape;240;p13">
            <a:extLst>
              <a:ext uri="{FF2B5EF4-FFF2-40B4-BE49-F238E27FC236}">
                <a16:creationId xmlns:a16="http://schemas.microsoft.com/office/drawing/2014/main" id="{BD7E9535-DC88-4786-0279-01ED89F16851}"/>
              </a:ext>
            </a:extLst>
          </p:cNvPr>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41" name="Google Shape;241;p13">
            <a:extLst>
              <a:ext uri="{FF2B5EF4-FFF2-40B4-BE49-F238E27FC236}">
                <a16:creationId xmlns:a16="http://schemas.microsoft.com/office/drawing/2014/main" id="{C8598F08-A973-4596-FFBB-1A55D27E53E1}"/>
              </a:ext>
            </a:extLst>
          </p:cNvPr>
          <p:cNvSpPr txBox="1"/>
          <p:nvPr/>
        </p:nvSpPr>
        <p:spPr>
          <a:xfrm>
            <a:off x="700088" y="1072533"/>
            <a:ext cx="5029200" cy="5755381"/>
          </a:xfrm>
          <a:prstGeom prst="rect">
            <a:avLst/>
          </a:prstGeom>
          <a:noFill/>
          <a:ln>
            <a:noFill/>
          </a:ln>
        </p:spPr>
        <p:txBody>
          <a:bodyPr spcFirstLastPara="1" wrap="square" lIns="91425" tIns="45700" rIns="91425" bIns="45700" anchor="t" anchorCtr="0">
            <a:spAutoFit/>
          </a:bodyPr>
          <a:lstStyle/>
          <a:p>
            <a:r>
              <a:rPr lang="en-US" sz="1800" b="1" dirty="0">
                <a:latin typeface="Trebuchet MS" panose="020B0603020202020204" pitchFamily="34" charset="0"/>
              </a:rPr>
              <a:t>4. Which industries combine high ESG and strong performance? </a:t>
            </a:r>
          </a:p>
          <a:p>
            <a:endParaRPr lang="en-US" sz="2000" b="1" dirty="0">
              <a:latin typeface="Trebuchet MS" panose="020B0603020202020204" pitchFamily="34" charset="0"/>
            </a:endParaRPr>
          </a:p>
          <a:p>
            <a:r>
              <a:rPr lang="en-US" sz="1800" b="1" dirty="0">
                <a:latin typeface="Trebuchet MS" panose="020B0603020202020204" pitchFamily="34" charset="0"/>
              </a:rPr>
              <a:t>Technology, Finance, and Healthcare are the best at merging sustainability with profitability. Industries in these sectors prove ESG doesn’t require sacrificing margins.</a:t>
            </a:r>
          </a:p>
          <a:p>
            <a:pPr>
              <a:spcAft>
                <a:spcPts val="800"/>
              </a:spcAft>
            </a:pPr>
            <a:r>
              <a:rPr lang="en-US" sz="1800" b="1" dirty="0">
                <a:latin typeface="Trebuchet MS" panose="020B0603020202020204" pitchFamily="34" charset="0"/>
              </a:rPr>
              <a:t>1. Technology</a:t>
            </a:r>
          </a:p>
          <a:p>
            <a:pPr>
              <a:spcAft>
                <a:spcPts val="800"/>
              </a:spcAft>
            </a:pPr>
            <a:r>
              <a:rPr lang="en-US" sz="1800" b="1" dirty="0">
                <a:latin typeface="Trebuchet MS" panose="020B0603020202020204" pitchFamily="34" charset="0"/>
              </a:rPr>
              <a:t>ESG: 63.3 (2nd highest)</a:t>
            </a:r>
          </a:p>
          <a:p>
            <a:pPr>
              <a:spcAft>
                <a:spcPts val="800"/>
              </a:spcAft>
            </a:pPr>
            <a:r>
              <a:rPr lang="en-US" sz="1800" b="1" dirty="0">
                <a:latin typeface="Trebuchet MS" panose="020B0603020202020204" pitchFamily="34" charset="0"/>
              </a:rPr>
              <a:t>Profit Margin: 18.8% (highest)</a:t>
            </a:r>
          </a:p>
          <a:p>
            <a:pPr>
              <a:spcAft>
                <a:spcPts val="800"/>
              </a:spcAft>
            </a:pPr>
            <a:r>
              <a:rPr lang="en-US" sz="1800" b="1" dirty="0">
                <a:latin typeface="Trebuchet MS" panose="020B0603020202020204" pitchFamily="34" charset="0"/>
              </a:rPr>
              <a:t>2. Finance</a:t>
            </a:r>
          </a:p>
          <a:p>
            <a:pPr>
              <a:spcAft>
                <a:spcPts val="800"/>
              </a:spcAft>
            </a:pPr>
            <a:r>
              <a:rPr lang="en-US" sz="1800" b="1" dirty="0">
                <a:latin typeface="Trebuchet MS" panose="020B0603020202020204" pitchFamily="34" charset="0"/>
              </a:rPr>
              <a:t>ESG: 64.6 (highest)</a:t>
            </a:r>
          </a:p>
          <a:p>
            <a:pPr>
              <a:spcAft>
                <a:spcPts val="800"/>
              </a:spcAft>
            </a:pPr>
            <a:r>
              <a:rPr lang="en-US" sz="1800" b="1" dirty="0">
                <a:latin typeface="Trebuchet MS" panose="020B0603020202020204" pitchFamily="34" charset="0"/>
              </a:rPr>
              <a:t>Profit Margin: 14.3% (3rd highest)</a:t>
            </a:r>
          </a:p>
          <a:p>
            <a:pPr>
              <a:spcAft>
                <a:spcPts val="800"/>
              </a:spcAft>
            </a:pPr>
            <a:r>
              <a:rPr lang="en-US" sz="1800" b="1" dirty="0">
                <a:latin typeface="Trebuchet MS" panose="020B0603020202020204" pitchFamily="34" charset="0"/>
              </a:rPr>
              <a:t>3. Healthcare</a:t>
            </a:r>
          </a:p>
          <a:p>
            <a:pPr>
              <a:spcAft>
                <a:spcPts val="800"/>
              </a:spcAft>
            </a:pPr>
            <a:r>
              <a:rPr lang="en-US" sz="1800" b="1" dirty="0">
                <a:latin typeface="Trebuchet MS" panose="020B0603020202020204" pitchFamily="34" charset="0"/>
              </a:rPr>
              <a:t>ESG: 57.3</a:t>
            </a:r>
          </a:p>
          <a:p>
            <a:pPr>
              <a:spcAft>
                <a:spcPts val="800"/>
              </a:spcAft>
            </a:pPr>
            <a:r>
              <a:rPr lang="en-US" sz="1800" b="1" dirty="0">
                <a:latin typeface="Trebuchet MS" panose="020B0603020202020204" pitchFamily="34" charset="0"/>
              </a:rPr>
              <a:t>Profit Margin: 15.4% (2nd highest)</a:t>
            </a:r>
            <a:endParaRPr lang="en-US" b="1" dirty="0">
              <a:latin typeface="Trebuchet MS" panose="020B0603020202020204" pitchFamily="34" charset="0"/>
            </a:endParaRPr>
          </a:p>
        </p:txBody>
      </p:sp>
      <p:sp>
        <p:nvSpPr>
          <p:cNvPr id="2" name="TextBox 1">
            <a:extLst>
              <a:ext uri="{FF2B5EF4-FFF2-40B4-BE49-F238E27FC236}">
                <a16:creationId xmlns:a16="http://schemas.microsoft.com/office/drawing/2014/main" id="{C1B7C49C-CC6C-A3BE-0401-132378896FA9}"/>
              </a:ext>
            </a:extLst>
          </p:cNvPr>
          <p:cNvSpPr txBox="1"/>
          <p:nvPr/>
        </p:nvSpPr>
        <p:spPr>
          <a:xfrm>
            <a:off x="143716" y="191793"/>
            <a:ext cx="49863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ANALYSIS AND FINDINGS</a:t>
            </a:r>
            <a:endParaRPr lang="en-US" sz="3200" b="1" dirty="0"/>
          </a:p>
        </p:txBody>
      </p:sp>
      <p:pic>
        <p:nvPicPr>
          <p:cNvPr id="4" name="Picture 3" descr="A screenshot of a graph">
            <a:extLst>
              <a:ext uri="{FF2B5EF4-FFF2-40B4-BE49-F238E27FC236}">
                <a16:creationId xmlns:a16="http://schemas.microsoft.com/office/drawing/2014/main" id="{BC99565E-DEB1-F9D7-F59C-12B8B7EEE92F}"/>
              </a:ext>
            </a:extLst>
          </p:cNvPr>
          <p:cNvPicPr>
            <a:picLocks noChangeAspect="1"/>
          </p:cNvPicPr>
          <p:nvPr/>
        </p:nvPicPr>
        <p:blipFill rotWithShape="1">
          <a:blip r:embed="rId3"/>
          <a:srcRect l="481" t="1177" b="2854"/>
          <a:stretch>
            <a:fillRect/>
          </a:stretch>
        </p:blipFill>
        <p:spPr bwMode="auto">
          <a:xfrm>
            <a:off x="5877356" y="1007749"/>
            <a:ext cx="6287635" cy="45365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55148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3E3B8FB5-77B4-A5F9-22A0-BF5F8A2FF2AF}"/>
            </a:ext>
          </a:extLst>
        </p:cNvPr>
        <p:cNvGrpSpPr/>
        <p:nvPr/>
      </p:nvGrpSpPr>
      <p:grpSpPr>
        <a:xfrm>
          <a:off x="0" y="0"/>
          <a:ext cx="0" cy="0"/>
          <a:chOff x="0" y="0"/>
          <a:chExt cx="0" cy="0"/>
        </a:xfrm>
      </p:grpSpPr>
      <p:sp>
        <p:nvSpPr>
          <p:cNvPr id="240" name="Google Shape;240;p13">
            <a:extLst>
              <a:ext uri="{FF2B5EF4-FFF2-40B4-BE49-F238E27FC236}">
                <a16:creationId xmlns:a16="http://schemas.microsoft.com/office/drawing/2014/main" id="{F3281A13-D348-7B3D-A24F-82127368E358}"/>
              </a:ext>
            </a:extLst>
          </p:cNvPr>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41" name="Google Shape;241;p13">
            <a:extLst>
              <a:ext uri="{FF2B5EF4-FFF2-40B4-BE49-F238E27FC236}">
                <a16:creationId xmlns:a16="http://schemas.microsoft.com/office/drawing/2014/main" id="{5DE43905-DD9A-9A48-DD30-A19288AA77EA}"/>
              </a:ext>
            </a:extLst>
          </p:cNvPr>
          <p:cNvSpPr txBox="1"/>
          <p:nvPr/>
        </p:nvSpPr>
        <p:spPr>
          <a:xfrm>
            <a:off x="603837" y="937549"/>
            <a:ext cx="5399921" cy="6688970"/>
          </a:xfrm>
          <a:prstGeom prst="rect">
            <a:avLst/>
          </a:prstGeom>
          <a:noFill/>
          <a:ln>
            <a:noFill/>
          </a:ln>
        </p:spPr>
        <p:txBody>
          <a:bodyPr spcFirstLastPara="1" wrap="square" lIns="91425" tIns="45700" rIns="91425" bIns="45700" anchor="t" anchorCtr="0">
            <a:spAutoFit/>
          </a:bodyPr>
          <a:lstStyle/>
          <a:p>
            <a:pPr rtl="0">
              <a:spcAft>
                <a:spcPts val="800"/>
              </a:spcAft>
              <a:buNone/>
            </a:pPr>
            <a:r>
              <a:rPr lang="en-US" sz="1800" b="0" i="0" u="none" strike="noStrike" dirty="0">
                <a:solidFill>
                  <a:srgbClr val="000000"/>
                </a:solidFill>
                <a:effectLst/>
                <a:latin typeface="Trebuchet MS" panose="020B0603020202020204" pitchFamily="34" charset="0"/>
              </a:rPr>
              <a:t>5. Which regions show the best blend of ESG and financial strength?</a:t>
            </a:r>
          </a:p>
          <a:p>
            <a:pPr rtl="0">
              <a:spcAft>
                <a:spcPts val="800"/>
              </a:spcAft>
              <a:buNone/>
            </a:pPr>
            <a:r>
              <a:rPr lang="en-US" sz="1600" b="0" i="0" u="none" strike="noStrike" dirty="0">
                <a:solidFill>
                  <a:srgbClr val="000000"/>
                </a:solidFill>
                <a:effectLst/>
                <a:latin typeface="Trebuchet MS" panose="020B0603020202020204" pitchFamily="34" charset="0"/>
              </a:rPr>
              <a:t>From the data, the top-performing regions that combine high ESG scores with competitive profit margins are:</a:t>
            </a:r>
          </a:p>
          <a:p>
            <a:pPr rtl="0">
              <a:spcAft>
                <a:spcPts val="800"/>
              </a:spcAft>
              <a:buNone/>
            </a:pPr>
            <a:r>
              <a:rPr lang="en-US" sz="1600" b="0" i="0" u="none" strike="noStrike" dirty="0">
                <a:solidFill>
                  <a:srgbClr val="000000"/>
                </a:solidFill>
                <a:effectLst/>
                <a:latin typeface="Trebuchet MS" panose="020B0603020202020204" pitchFamily="34" charset="0"/>
              </a:rPr>
              <a:t>1. Europe</a:t>
            </a:r>
          </a:p>
          <a:p>
            <a:pPr rtl="0">
              <a:spcAft>
                <a:spcPts val="800"/>
              </a:spcAft>
              <a:buNone/>
            </a:pPr>
            <a:r>
              <a:rPr lang="en-US" sz="1600" b="0" i="0" u="none" strike="noStrike" dirty="0">
                <a:solidFill>
                  <a:srgbClr val="000000"/>
                </a:solidFill>
                <a:effectLst/>
                <a:latin typeface="Trebuchet MS" panose="020B0603020202020204" pitchFamily="34" charset="0"/>
              </a:rPr>
              <a:t>ESG: 67.9 (highest globally)</a:t>
            </a:r>
          </a:p>
          <a:p>
            <a:pPr rtl="0">
              <a:spcAft>
                <a:spcPts val="800"/>
              </a:spcAft>
              <a:buNone/>
            </a:pPr>
            <a:r>
              <a:rPr lang="en-US" sz="1600" b="0" i="0" u="none" strike="noStrike" dirty="0">
                <a:solidFill>
                  <a:srgbClr val="000000"/>
                </a:solidFill>
                <a:effectLst/>
                <a:latin typeface="Trebuchet MS" panose="020B0603020202020204" pitchFamily="34" charset="0"/>
              </a:rPr>
              <a:t>Profit Margin: 10.3% (moderate but stable)</a:t>
            </a:r>
          </a:p>
          <a:p>
            <a:pPr rtl="0">
              <a:spcAft>
                <a:spcPts val="800"/>
              </a:spcAft>
              <a:buNone/>
            </a:pPr>
            <a:r>
              <a:rPr lang="en-US" sz="1600" b="0" i="0" u="none" strike="noStrike" dirty="0">
                <a:solidFill>
                  <a:srgbClr val="000000"/>
                </a:solidFill>
                <a:effectLst/>
                <a:latin typeface="Trebuchet MS" panose="020B0603020202020204" pitchFamily="34" charset="0"/>
              </a:rPr>
              <a:t>2. Oceania</a:t>
            </a:r>
          </a:p>
          <a:p>
            <a:pPr rtl="0">
              <a:spcAft>
                <a:spcPts val="800"/>
              </a:spcAft>
              <a:buNone/>
            </a:pPr>
            <a:r>
              <a:rPr lang="en-US" sz="1600" b="0" i="0" u="none" strike="noStrike" dirty="0">
                <a:solidFill>
                  <a:srgbClr val="000000"/>
                </a:solidFill>
                <a:effectLst/>
                <a:latin typeface="Trebuchet MS" panose="020B0603020202020204" pitchFamily="34" charset="0"/>
              </a:rPr>
              <a:t>ESG: 62.4 (2nd highest)</a:t>
            </a:r>
          </a:p>
          <a:p>
            <a:pPr rtl="0">
              <a:spcAft>
                <a:spcPts val="800"/>
              </a:spcAft>
              <a:buNone/>
            </a:pPr>
            <a:r>
              <a:rPr lang="en-US" sz="1600" b="0" i="0" u="none" strike="noStrike" dirty="0">
                <a:solidFill>
                  <a:srgbClr val="000000"/>
                </a:solidFill>
                <a:effectLst/>
                <a:latin typeface="Trebuchet MS" panose="020B0603020202020204" pitchFamily="34" charset="0"/>
              </a:rPr>
              <a:t>Profit Margin: 10.8% (above Europe)</a:t>
            </a:r>
          </a:p>
          <a:p>
            <a:pPr rtl="0">
              <a:spcAft>
                <a:spcPts val="800"/>
              </a:spcAft>
              <a:buNone/>
            </a:pPr>
            <a:r>
              <a:rPr lang="en-US" sz="1600" b="0" i="0" u="none" strike="noStrike" dirty="0">
                <a:solidFill>
                  <a:srgbClr val="000000"/>
                </a:solidFill>
                <a:effectLst/>
                <a:latin typeface="Trebuchet MS" panose="020B0603020202020204" pitchFamily="34" charset="0"/>
              </a:rPr>
              <a:t>3. North America</a:t>
            </a:r>
          </a:p>
          <a:p>
            <a:pPr rtl="0">
              <a:spcAft>
                <a:spcPts val="800"/>
              </a:spcAft>
              <a:buNone/>
            </a:pPr>
            <a:r>
              <a:rPr lang="en-US" sz="1600" b="0" i="0" u="none" strike="noStrike" dirty="0">
                <a:solidFill>
                  <a:srgbClr val="000000"/>
                </a:solidFill>
                <a:effectLst/>
                <a:latin typeface="Trebuchet MS" panose="020B0603020202020204" pitchFamily="34" charset="0"/>
              </a:rPr>
              <a:t>ESG: 61.2</a:t>
            </a:r>
          </a:p>
          <a:p>
            <a:pPr rtl="0">
              <a:spcAft>
                <a:spcPts val="800"/>
              </a:spcAft>
              <a:buNone/>
            </a:pPr>
            <a:r>
              <a:rPr lang="en-US" sz="1600" b="0" i="0" u="none" strike="noStrike" dirty="0">
                <a:solidFill>
                  <a:srgbClr val="000000"/>
                </a:solidFill>
                <a:effectLst/>
                <a:latin typeface="Trebuchet MS" panose="020B0603020202020204" pitchFamily="34" charset="0"/>
              </a:rPr>
              <a:t>Profit Margin: 11.3% (highest among top ESG regions)</a:t>
            </a:r>
          </a:p>
          <a:p>
            <a:pPr rtl="0">
              <a:spcAft>
                <a:spcPts val="800"/>
              </a:spcAft>
              <a:buNone/>
            </a:pPr>
            <a:r>
              <a:rPr lang="en-US" sz="1600" dirty="0">
                <a:solidFill>
                  <a:srgbClr val="FF0000"/>
                </a:solidFill>
                <a:latin typeface="Trebuchet MS" panose="020B0603020202020204" pitchFamily="34" charset="0"/>
              </a:rPr>
              <a:t>Insight:</a:t>
            </a:r>
            <a:r>
              <a:rPr lang="en-US" sz="1600" dirty="0">
                <a:latin typeface="Trebuchet MS" panose="020B0603020202020204" pitchFamily="34" charset="0"/>
              </a:rPr>
              <a:t> These findings suggest that developed regions are not only leading in sustainability but are also succeeding financially, showing that responsible business practices can enhance, and not hinder profitability.</a:t>
            </a:r>
            <a:endParaRPr lang="en-US" sz="1600" b="0" i="0" u="none" strike="noStrike" dirty="0">
              <a:solidFill>
                <a:srgbClr val="000000"/>
              </a:solidFill>
              <a:effectLst/>
              <a:latin typeface="Trebuchet MS" panose="020B0603020202020204" pitchFamily="34" charset="0"/>
            </a:endParaRPr>
          </a:p>
          <a:p>
            <a:pPr rtl="0">
              <a:spcAft>
                <a:spcPts val="800"/>
              </a:spcAft>
              <a:buNone/>
            </a:pPr>
            <a:endParaRPr lang="en-US" sz="1800" b="0" dirty="0">
              <a:effectLst/>
              <a:latin typeface="Trebuchet MS" panose="020B0603020202020204" pitchFamily="34" charset="0"/>
            </a:endParaRPr>
          </a:p>
          <a:p>
            <a:pPr>
              <a:buNone/>
            </a:pPr>
            <a:br>
              <a:rPr lang="en-US" sz="1600" dirty="0">
                <a:latin typeface="Trebuchet MS" panose="020B0603020202020204" pitchFamily="34" charset="0"/>
              </a:rPr>
            </a:br>
            <a:endParaRPr lang="en-US" sz="1600" b="1" dirty="0">
              <a:latin typeface="Trebuchet MS" panose="020B0603020202020204" pitchFamily="34" charset="0"/>
            </a:endParaRPr>
          </a:p>
        </p:txBody>
      </p:sp>
      <p:sp>
        <p:nvSpPr>
          <p:cNvPr id="2" name="TextBox 1">
            <a:extLst>
              <a:ext uri="{FF2B5EF4-FFF2-40B4-BE49-F238E27FC236}">
                <a16:creationId xmlns:a16="http://schemas.microsoft.com/office/drawing/2014/main" id="{B55E6289-D6E7-599C-8BE2-3C9CB6B83FEE}"/>
              </a:ext>
            </a:extLst>
          </p:cNvPr>
          <p:cNvSpPr txBox="1"/>
          <p:nvPr/>
        </p:nvSpPr>
        <p:spPr>
          <a:xfrm>
            <a:off x="143716" y="191793"/>
            <a:ext cx="498633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ANALYSIS AND FINDINGS</a:t>
            </a:r>
            <a:endParaRPr lang="en-US" sz="3200" b="1" dirty="0"/>
          </a:p>
        </p:txBody>
      </p:sp>
      <p:pic>
        <p:nvPicPr>
          <p:cNvPr id="4" name="Picture 3">
            <a:extLst>
              <a:ext uri="{FF2B5EF4-FFF2-40B4-BE49-F238E27FC236}">
                <a16:creationId xmlns:a16="http://schemas.microsoft.com/office/drawing/2014/main" id="{61F7379A-348C-1696-FD4A-F27A93F650DD}"/>
              </a:ext>
            </a:extLst>
          </p:cNvPr>
          <p:cNvPicPr>
            <a:picLocks noChangeAspect="1"/>
          </p:cNvPicPr>
          <p:nvPr/>
        </p:nvPicPr>
        <p:blipFill>
          <a:blip r:embed="rId3"/>
          <a:stretch>
            <a:fillRect/>
          </a:stretch>
        </p:blipFill>
        <p:spPr>
          <a:xfrm>
            <a:off x="6350643" y="1018996"/>
            <a:ext cx="5750616" cy="4212761"/>
          </a:xfrm>
          <a:prstGeom prst="rect">
            <a:avLst/>
          </a:prstGeom>
        </p:spPr>
      </p:pic>
    </p:spTree>
    <p:extLst>
      <p:ext uri="{BB962C8B-B14F-4D97-AF65-F5344CB8AC3E}">
        <p14:creationId xmlns:p14="http://schemas.microsoft.com/office/powerpoint/2010/main" val="1824090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5"/>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Trebuchet MS"/>
              <a:ea typeface="Trebuchet MS"/>
              <a:cs typeface="Trebuchet MS"/>
              <a:sym typeface="Trebuchet MS"/>
            </a:endParaRPr>
          </a:p>
        </p:txBody>
      </p:sp>
      <p:sp>
        <p:nvSpPr>
          <p:cNvPr id="253" name="Google Shape;253;p15"/>
          <p:cNvSpPr txBox="1"/>
          <p:nvPr/>
        </p:nvSpPr>
        <p:spPr>
          <a:xfrm>
            <a:off x="657225" y="1056697"/>
            <a:ext cx="9144000" cy="5852844"/>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1600"/>
              <a:buFont typeface="Times New Roman"/>
              <a:buNone/>
            </a:pPr>
            <a:endParaRPr sz="2000" dirty="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chemeClr val="dk1"/>
              </a:buClr>
              <a:buSzPts val="1600"/>
              <a:buFont typeface="Trebuchet MS"/>
              <a:buAutoNum type="arabicPeriod"/>
            </a:pPr>
            <a:r>
              <a:rPr lang="en-US" sz="2000" b="1" dirty="0">
                <a:solidFill>
                  <a:schemeClr val="dk1"/>
                </a:solidFill>
                <a:latin typeface="Times New Roman"/>
                <a:ea typeface="Times New Roman"/>
                <a:cs typeface="Times New Roman"/>
                <a:sym typeface="Times New Roman"/>
              </a:rPr>
              <a:t>For Businesses</a:t>
            </a:r>
            <a:r>
              <a:rPr lang="en-US" sz="2000" dirty="0">
                <a:solidFill>
                  <a:schemeClr val="dk1"/>
                </a:solidFill>
                <a:latin typeface="Times New Roman"/>
                <a:ea typeface="Times New Roman"/>
                <a:cs typeface="Times New Roman"/>
                <a:sym typeface="Times New Roman"/>
              </a:rPr>
              <a:t>:</a:t>
            </a:r>
            <a:endParaRPr sz="2000" dirty="0">
              <a:solidFill>
                <a:schemeClr val="dk1"/>
              </a:solidFill>
              <a:latin typeface="Calibri"/>
              <a:ea typeface="Calibri"/>
              <a:cs typeface="Calibri"/>
              <a:sym typeface="Calibri"/>
            </a:endParaRPr>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Invest in ESG areas that boost performance, especially environmental practices like energy efficiency and emissions reduction.</a:t>
            </a:r>
            <a:endParaRPr sz="1800" dirty="0"/>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Avoid over-spending on governance if it reduces profits without clear returns  keep governance efficient and compliant.</a:t>
            </a:r>
            <a:endParaRPr sz="1800" dirty="0"/>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Balance ESG efforts across all three pillars (E, S, G) for long-term sustainability and trust.</a:t>
            </a:r>
            <a:endParaRPr sz="1800" dirty="0"/>
          </a:p>
          <a:p>
            <a:pPr marL="457200" marR="0" lvl="1" indent="0" algn="l" rtl="0">
              <a:lnSpc>
                <a:spcPct val="107000"/>
              </a:lnSpc>
              <a:spcBef>
                <a:spcPts val="80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2. For Investors</a:t>
            </a:r>
            <a:r>
              <a:rPr lang="en-US" sz="2000" b="0" i="0" u="none" strike="noStrike" cap="none" dirty="0">
                <a:solidFill>
                  <a:schemeClr val="dk1"/>
                </a:solidFill>
                <a:latin typeface="Times New Roman"/>
                <a:ea typeface="Times New Roman"/>
                <a:cs typeface="Times New Roman"/>
                <a:sym typeface="Times New Roman"/>
              </a:rPr>
              <a:t>:</a:t>
            </a:r>
            <a:endParaRPr sz="2000" b="0" i="0" u="none" strike="noStrike" cap="none" dirty="0">
              <a:solidFill>
                <a:schemeClr val="dk1"/>
              </a:solidFill>
              <a:latin typeface="Calibri"/>
              <a:ea typeface="Calibri"/>
              <a:cs typeface="Calibri"/>
              <a:sym typeface="Calibri"/>
            </a:endParaRPr>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Target industries and regions with strong ESG and financial performance  especially tech and finance sectors in Europe and North America.</a:t>
            </a:r>
            <a:endParaRPr sz="1800" dirty="0"/>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Avoid low-ESG sectors (e.g., coal or heavy extractives), which face higher long-term regulatory and reputational risks.</a:t>
            </a:r>
            <a:endParaRPr sz="1800" dirty="0"/>
          </a:p>
          <a:p>
            <a:pPr marL="742950" marR="0" lvl="1" indent="-285750" algn="l" rtl="0">
              <a:lnSpc>
                <a:spcPct val="107000"/>
              </a:lnSpc>
              <a:spcBef>
                <a:spcPts val="800"/>
              </a:spcBef>
              <a:spcAft>
                <a:spcPts val="0"/>
              </a:spcAft>
              <a:buClr>
                <a:schemeClr val="dk1"/>
              </a:buClr>
              <a:buSzPts val="1000"/>
              <a:buFont typeface="Courier New"/>
              <a:buChar char="o"/>
            </a:pPr>
            <a:r>
              <a:rPr lang="en-US" sz="2000" b="0" i="0" u="none" strike="noStrike" cap="none" dirty="0">
                <a:solidFill>
                  <a:schemeClr val="dk1"/>
                </a:solidFill>
                <a:latin typeface="Times New Roman"/>
                <a:ea typeface="Times New Roman"/>
                <a:cs typeface="Times New Roman"/>
                <a:sym typeface="Times New Roman"/>
              </a:rPr>
              <a:t>Use ESG scores (especially Environmental) as a reliable filter when selecting investment opportunities.</a:t>
            </a:r>
            <a:endParaRPr sz="2000" b="0" i="0" u="none" strike="noStrike" cap="none"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926AEFEF-4F07-ABE7-3403-2EE61A6D0172}"/>
              </a:ext>
            </a:extLst>
          </p:cNvPr>
          <p:cNvSpPr txBox="1"/>
          <p:nvPr/>
        </p:nvSpPr>
        <p:spPr>
          <a:xfrm>
            <a:off x="290101" y="183875"/>
            <a:ext cx="4186237" cy="584775"/>
          </a:xfrm>
          <a:prstGeom prst="rect">
            <a:avLst/>
          </a:prstGeom>
          <a:noFill/>
        </p:spPr>
        <p:txBody>
          <a:bodyPr wrap="square" rtlCol="0">
            <a:spAutoFit/>
          </a:bodyPr>
          <a:lstStyle/>
          <a:p>
            <a:r>
              <a:rPr lang="en-US" sz="3200" b="1" dirty="0">
                <a:solidFill>
                  <a:schemeClr val="lt1"/>
                </a:solidFill>
                <a:latin typeface="Trebuchet MS"/>
                <a:ea typeface="Trebuchet MS"/>
                <a:cs typeface="Trebuchet MS"/>
                <a:sym typeface="Trebuchet MS"/>
              </a:rPr>
              <a:t>RECOMMENDATIONS</a:t>
            </a:r>
            <a:endParaRPr lang="en-GB"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6"/>
          <p:cNvSpPr/>
          <p:nvPr/>
        </p:nvSpPr>
        <p:spPr>
          <a:xfrm>
            <a:off x="0" y="-104172"/>
            <a:ext cx="12191999" cy="1041721"/>
          </a:xfrm>
          <a:prstGeom prst="rect">
            <a:avLst/>
          </a:prstGeom>
          <a:solidFill>
            <a:srgbClr val="80B0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dirty="0"/>
          </a:p>
        </p:txBody>
      </p:sp>
      <p:sp>
        <p:nvSpPr>
          <p:cNvPr id="259" name="Google Shape;259;p16"/>
          <p:cNvSpPr txBox="1"/>
          <p:nvPr/>
        </p:nvSpPr>
        <p:spPr>
          <a:xfrm>
            <a:off x="663949" y="1420429"/>
            <a:ext cx="8722940" cy="461558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800"/>
              </a:spcBef>
              <a:spcAft>
                <a:spcPts val="0"/>
              </a:spcAft>
              <a:buNone/>
            </a:pPr>
            <a:r>
              <a:rPr lang="en-US" sz="3200" dirty="0">
                <a:solidFill>
                  <a:schemeClr val="dk1"/>
                </a:solidFill>
                <a:latin typeface="Times New Roman"/>
                <a:ea typeface="Times New Roman"/>
                <a:cs typeface="Times New Roman"/>
                <a:sym typeface="Times New Roman"/>
              </a:rPr>
              <a:t>ESG isn’t a profit-killer, companies and industries with higher ESG scores tend to perform  better and have greater market value, but  it’s not universal.</a:t>
            </a:r>
          </a:p>
          <a:p>
            <a:pPr marL="0" marR="0" lvl="0" indent="0" algn="l" rtl="0">
              <a:lnSpc>
                <a:spcPct val="107000"/>
              </a:lnSpc>
              <a:spcBef>
                <a:spcPts val="800"/>
              </a:spcBef>
              <a:spcAft>
                <a:spcPts val="0"/>
              </a:spcAft>
              <a:buNone/>
            </a:pPr>
            <a:r>
              <a:rPr lang="en-US" sz="3200" dirty="0">
                <a:solidFill>
                  <a:schemeClr val="dk1"/>
                </a:solidFill>
                <a:latin typeface="Times New Roman"/>
                <a:ea typeface="Times New Roman"/>
                <a:cs typeface="Times New Roman"/>
                <a:sym typeface="Times New Roman"/>
              </a:rPr>
              <a:t>It also depends on industry, region, business model, region and strategy. </a:t>
            </a:r>
          </a:p>
          <a:p>
            <a:pPr marL="0" marR="0" lvl="0" indent="0" algn="l" rtl="0">
              <a:lnSpc>
                <a:spcPct val="107000"/>
              </a:lnSpc>
              <a:spcBef>
                <a:spcPts val="800"/>
              </a:spcBef>
              <a:spcAft>
                <a:spcPts val="0"/>
              </a:spcAft>
              <a:buNone/>
            </a:pPr>
            <a:r>
              <a:rPr lang="en-US" sz="3200" dirty="0">
                <a:solidFill>
                  <a:schemeClr val="dk1"/>
                </a:solidFill>
                <a:latin typeface="Times New Roman"/>
                <a:ea typeface="Times New Roman"/>
                <a:cs typeface="Times New Roman"/>
                <a:sym typeface="Times New Roman"/>
              </a:rPr>
              <a:t>The best approach: balance sustainability with financial goals, using top performers (tech, Europe) as benchmarks.</a:t>
            </a:r>
            <a:endParaRPr sz="3200"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1BA95C3E-8683-8B15-514D-5B3E66C00278}"/>
              </a:ext>
            </a:extLst>
          </p:cNvPr>
          <p:cNvSpPr txBox="1"/>
          <p:nvPr/>
        </p:nvSpPr>
        <p:spPr>
          <a:xfrm>
            <a:off x="357187" y="124300"/>
            <a:ext cx="3100387" cy="584775"/>
          </a:xfrm>
          <a:prstGeom prst="rect">
            <a:avLst/>
          </a:prstGeom>
          <a:noFill/>
        </p:spPr>
        <p:txBody>
          <a:bodyPr wrap="square" rtlCol="0">
            <a:spAutoFit/>
          </a:bodyPr>
          <a:lstStyle/>
          <a:p>
            <a:pPr marL="0" marR="0" lvl="0" indent="0" algn="ctr" rtl="0">
              <a:spcBef>
                <a:spcPts val="0"/>
              </a:spcBef>
              <a:spcAft>
                <a:spcPts val="0"/>
              </a:spcAft>
              <a:buNone/>
            </a:pPr>
            <a:r>
              <a:rPr lang="en-US" sz="3200" b="1" dirty="0">
                <a:solidFill>
                  <a:schemeClr val="lt1"/>
                </a:solidFill>
                <a:latin typeface="Trebuchet MS"/>
                <a:ea typeface="Trebuchet MS"/>
                <a:cs typeface="Trebuchet MS"/>
                <a:sym typeface="Trebuchet MS"/>
              </a:rPr>
              <a:t>CONCLUSION </a:t>
            </a:r>
            <a:endParaRPr lang="en-US" sz="3200" b="1" dirty="0"/>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804</TotalTime>
  <Words>1521</Words>
  <Application>Microsoft Office PowerPoint</Application>
  <PresentationFormat>Widescreen</PresentationFormat>
  <Paragraphs>190</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Courier New</vt:lpstr>
      <vt:lpstr>Noto Sans Symbols</vt:lpstr>
      <vt:lpstr>Times New Roman</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Felicitas Ezechikeluba</dc:creator>
  <cp:lastModifiedBy>Felicitas Ezechikeluba</cp:lastModifiedBy>
  <cp:revision>27</cp:revision>
  <dcterms:created xsi:type="dcterms:W3CDTF">2025-04-26T13:02:10Z</dcterms:created>
  <dcterms:modified xsi:type="dcterms:W3CDTF">2025-11-10T09:30:29Z</dcterms:modified>
</cp:coreProperties>
</file>